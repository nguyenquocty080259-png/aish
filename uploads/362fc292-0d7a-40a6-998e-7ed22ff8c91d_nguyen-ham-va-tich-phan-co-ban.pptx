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1016000"/>
            <a:ext cx="7874000" cy="2032000"/>
          </a:xfrm>
          <a:prstGeom prst="rect">
            <a:avLst/>
          </a:prstGeom>
        </p:spPr>
        <p:txBody>
          <a:bodyPr anchor="t" rtlCol="false"/>
          <a:lstStyle/>
          <a:p>
            <a:pPr algn="l">
              <a:defRPr/>
            </a:pPr>
            <a:r>
              <a:rPr lang="en-US"/>
              <a:t/>
            </a:r>
            <a:endParaRPr lang="en-US" sz="1100"/>
          </a:p>
          <a:p>
            <a:r>
              <a:rPr lang="en-US" sz="3200" b="true"/>
              <a:t>Nguyên hàm và tích phân cơ bản</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I. KIẾN THỨC TRỌNG TÂM — Nguyên hàm của hàm số f(x) trên một khoảng là hàm số F(x) sao cho F'(x) = f(x) trên khoảng đó. Họ nguyên hàm của f(x) được viết là F(x) + C với C là hằng số tùy ý. Việc tìm nguyên hàm dựa trên bảng nguyên hàm các hàm cơ bản và các phương pháp đổi biến số, nguyên hàm từng phần.</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II. PHÂN TÍCH VÀ MỞ RỘNG — Tích phân xác định của f(x) trên đoạn [a; b], ký hiệu ∫ từ a đến b f(x)dx, được tính bằng công thức Newton-Leibniz: bằng F(b) - F(a), trong đó F là một nguyên hàm bất kỳ của f. Ý nghĩa hình học của tích phân xác định (khi f(x) ≥ 0) là diện tích hình phẳng giới hạn bởi đồ thị hàm số, trục hoành và hai đường thẳng x = a, x = b.</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III. VẬN DỤNG — Tích phân còn được dùng để tính diện tích hình phẳng giới hạn bởi hai đồ thị và tính thể tích khối tròn xoay khi quay một hình phẳng quanh trục hoành, theo công thức V = π∫ từ a đến b [f(x)]²dx. Đây là ứng dụng quan trọng nối liền giải tích với hình học không gian.</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IV. VÍ DỤ CÓ HƯỚNG DẪN — Xét một tình huống tiêu biểu của bài “Nguyên hàm và tích phân cơ bản”. Trước hết xác định dữ kiện, khái niệm hoặc quy tắc liên quan; tiếp theo lựa chọn phương pháp, trình bày từng bước và kiểm tra điều kiện áp dụng. Sau khi có kết quả, đối chiếu lại với yêu cầu, giải thích ý nghĩa và chỉ ra lỗi sai thường gặp. Cách làm này giúp học sinh không chỉ ghi nhớ đáp án mà còn hình thành quy trình giải quyết vấn đề có thể dùng cho các câu hỏi tương tự.</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V. BÀI TẬP LUYỆN TẬP — Bài 1: trình bày lại nội dung cốt lõi bằng sơ đồ hoặc bảng so sánh. Bài 2: giải một trường hợp cơ bản và giải thích từng bước. Bài 3: thay đổi một dữ kiện của ví dụ để dự đoán kết quả mới. Bài 4: tìm và sửa một lời giải hoặc nhận định sai. Bài 5: liên hệ kiến thức với một hiện tượng trong học tập hoặc đời sống. Học sinh nên làm độc lập trước, sau đó trao đổi cách giải và tự chấm theo tiêu chí đúng kiến thức, đủ lập luận, rõ trình bày.</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VI. TỔNG KẾT VÀ TỰ HỌC — Sau bài học, học sinh cần tự trả lời được ba câu hỏi: kiến thức nào là nền tảng, dấu hiệu nào cho biết nên áp dụng kiến thức đó, và làm thế nào kiểm tra kết quả. Hãy lập một trang ghi chú gồm từ khóa, công thức hoặc luận điểm chính, một ví dụ mẫu và một lỗi dễ mắc. Ôn lại sau một ngày và một tuần, đồng thời tự tạo thêm câu hỏi vận dụng để củng cố khả năng nhớ lâu và sử dụng kiến thức linh hoạt.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