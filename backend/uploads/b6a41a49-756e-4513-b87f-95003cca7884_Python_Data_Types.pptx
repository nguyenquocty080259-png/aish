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we'll cover 4 main data storage types in Python: List, Tuple, Set, and Dictionary. Each one has its own characteristics and is best suited for different situations.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 let's think about why we need these data types. When building a program, we often need to store many values together — like a list of student names, test scores, phone numbers in a contact book, or all the info about one user. Python gives us 4 main tools for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is the most commonly used data type in Python. Think of it like a numbered shelf — each item sits in a specific position, you can add more items, remove them, or change them. For example, a class roster is a great fit for a List since students may join or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Python's List comes with many built-in methods. The most useful ones are: append to add items, remove or pop to delete them, sort to order them. You'll use these constantly when writing Python programs. Don't worry about memorizing all of them — you'll naturally remember the ones you use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is super flexible, but that's also its weakness. Since it allows duplicates, you'd need to write extra code to ensure uniqueness. And because it's mutable, data can get changed by accident if you're not careful. Always think: does my data need to change? If yes, List is likely a good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Tuple looks a lot like List — but the key difference is it's immutable. Once you create a Tuple, you can't add, remove, or change its values. This sounds limiting, but it's actually useful! It protects important data from being accidentally changed — like a student's ID number or their university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Tuple only has 2 built-in methods — count and index. That's because you can't modify it. But you can still use Python's built-in functions like len, max, min, and sum. The fewer methods make it simpler and safer — less chance of something going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strength of Tuple is also its limitation. It's safe and reliable for fixed data, but if you need to update values often, it's the wrong tool. For example, a student's name and ID don't change — perfect for Tuple. But their grades? Use a List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is perfect when you don't want any duplicates. Imagine collecting all the unique email addresses of students who signed up. If someone submits the same email twice, Set will just keep one copy. You don't need to check yourself — it handles that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has many useful methods. The basic ones are add, remove, and discard. The interesting ones are union, intersection, and difference — these let you do set math! For example, finding students who are in both Group A and Group B uses intersection(). Very useful for data filtering.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is a powerful tool when uniqueness matters. But if you need to access item number 3 or keep things in order, Set is the wrong choice. Use it when you're dealing with collections where duplicates don't make sense — like usernames, product codes, or tags.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Dictionary is like a real dictionary or a student ID card. Instead of accessing data by position (index 0, 1, 2...), you access it by name — the key. So instead of writing student[0] and guessing what that is, you write student['name'] and know exactly what you're getting. Much clearer!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Dictionary methods are very intuitive. keys(), values(), and items() are used constantly when you want to loop through a dictionary. The get() method is especially handy because it won't crash your program if the key doesn't exist — unlike using square brackets which throws an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Dictionary is the most expressive of the four types — you can tell exactly what each value means just by looking at the key. But it's also the most complex. A common bug is accidentally using the same key twice — the second value will silently overwrite the first without any error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table summarizes everything we've covered. The key differences are: List is the most flexible, Tuple is the safest for fixed data, Set handles uniqueness automatically, and Dictionary is best when your data has names. Choosing the right type makes your code cleaner and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that's a wrap! The most important thing to remember is not to memorize every method — but to understand when to use each type. Ask yourself: Does this data change? Does order matter? Are duplicates a problem? Do I need labels? Your answers will point you to the right type every time. Thanks for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6B"/>
        </a:solidFill>
      </p:bgPr>
    </p:bg>
    <p:spTree>
      <p:nvGrpSpPr>
        <p:cNvPr id="1" name=""/>
        <p:cNvGrpSpPr/>
        <p:nvPr/>
      </p:nvGrpSpPr>
      <p:grpSpPr>
        <a:xfrm>
          <a:off x="0" y="0"/>
          <a:ext cx="0" cy="0"/>
          <a:chOff x="0" y="0"/>
          <a:chExt cx="0" cy="0"/>
        </a:xfrm>
      </p:grpSpPr>
      <p:sp>
        <p:nvSpPr>
          <p:cNvPr id="2" name="Shape 0"/>
          <p:cNvSpPr/>
          <p:nvPr/>
        </p:nvSpPr>
        <p:spPr>
          <a:xfrm>
            <a:off x="7772400" y="-457200"/>
            <a:ext cx="2286000" cy="2286000"/>
          </a:xfrm>
          <a:prstGeom prst="ellipse">
            <a:avLst/>
          </a:prstGeom>
          <a:solidFill>
            <a:srgbClr val="2563EB">
              <a:alpha val="30000"/>
            </a:srgbClr>
          </a:solidFill>
          <a:ln w="12700">
            <a:solidFill>
              <a:srgbClr val="2563EB">
                <a:alpha val="30000"/>
              </a:srgbClr>
            </a:solidFill>
            <a:prstDash val="solid"/>
          </a:ln>
        </p:spPr>
      </p:sp>
      <p:sp>
        <p:nvSpPr>
          <p:cNvPr id="3" name="Shape 1"/>
          <p:cNvSpPr/>
          <p:nvPr/>
        </p:nvSpPr>
        <p:spPr>
          <a:xfrm>
            <a:off x="8412480" y="3474720"/>
            <a:ext cx="1645920" cy="1645920"/>
          </a:xfrm>
          <a:prstGeom prst="ellipse">
            <a:avLst/>
          </a:prstGeom>
          <a:solidFill>
            <a:srgbClr val="0891B2">
              <a:alpha val="40000"/>
            </a:srgbClr>
          </a:solidFill>
          <a:ln w="12700">
            <a:solidFill>
              <a:srgbClr val="0891B2">
                <a:alpha val="40000"/>
              </a:srgbClr>
            </a:solidFill>
            <a:prstDash val="solid"/>
          </a:ln>
        </p:spPr>
      </p:sp>
      <p:sp>
        <p:nvSpPr>
          <p:cNvPr id="4" name="Text 2"/>
          <p:cNvSpPr/>
          <p:nvPr/>
        </p:nvSpPr>
        <p:spPr>
          <a:xfrm>
            <a:off x="548640" y="1280160"/>
            <a:ext cx="8046720" cy="1097280"/>
          </a:xfrm>
          <a:prstGeom prst="rect">
            <a:avLst/>
          </a:prstGeom>
          <a:noFill/>
          <a:ln/>
        </p:spPr>
        <p:txBody>
          <a:bodyPr wrap="square" rtlCol="0" anchor="ctr"/>
          <a:lstStyle/>
          <a:p>
            <a:pPr algn="l" indent="0" marL="0">
              <a:buNone/>
            </a:pPr>
            <a:r>
              <a:rPr lang="en-US" sz="3800" b="1" dirty="0">
                <a:solidFill>
                  <a:srgbClr val="FFFFFF"/>
                </a:solidFill>
              </a:rPr>
              <a:t>4 Data Storage Types in Python</a:t>
            </a:r>
            <a:endParaRPr lang="en-US" sz="3800" dirty="0"/>
          </a:p>
        </p:txBody>
      </p:sp>
      <p:sp>
        <p:nvSpPr>
          <p:cNvPr id="5" name="Text 3"/>
          <p:cNvSpPr/>
          <p:nvPr/>
        </p:nvSpPr>
        <p:spPr>
          <a:xfrm>
            <a:off x="548640" y="2468880"/>
            <a:ext cx="8046720" cy="548640"/>
          </a:xfrm>
          <a:prstGeom prst="rect">
            <a:avLst/>
          </a:prstGeom>
          <a:noFill/>
          <a:ln/>
        </p:spPr>
        <p:txBody>
          <a:bodyPr wrap="square" rtlCol="0" anchor="ctr"/>
          <a:lstStyle/>
          <a:p>
            <a:pPr algn="l" indent="0" marL="0">
              <a:buNone/>
            </a:pPr>
            <a:r>
              <a:rPr lang="en-US" sz="2000" i="1" dirty="0">
                <a:solidFill>
                  <a:srgbClr val="93C5FD"/>
                </a:solidFill>
              </a:rPr>
              <a:t>List  •  Tuple  •  Set  •  Dictionary</a:t>
            </a:r>
            <a:endParaRPr lang="en-US" sz="2000" dirty="0"/>
          </a:p>
        </p:txBody>
      </p:sp>
      <p:sp>
        <p:nvSpPr>
          <p:cNvPr id="6" name="Shape 4"/>
          <p:cNvSpPr/>
          <p:nvPr/>
        </p:nvSpPr>
        <p:spPr>
          <a:xfrm>
            <a:off x="548640" y="3291840"/>
            <a:ext cx="1920240" cy="502920"/>
          </a:xfrm>
          <a:prstGeom prst="rect">
            <a:avLst>
              <a:gd name="adj" fmla="val 14545"/>
            </a:avLst>
          </a:prstGeom>
          <a:solidFill>
            <a:srgbClr val="2563EB">
              <a:alpha val="80000"/>
            </a:srgbClr>
          </a:solidFill>
          <a:ln w="12700">
            <a:solidFill>
              <a:srgbClr val="2563EB"/>
            </a:solidFill>
            <a:prstDash val="solid"/>
          </a:ln>
        </p:spPr>
      </p:sp>
      <p:sp>
        <p:nvSpPr>
          <p:cNvPr id="7" name="Text 5"/>
          <p:cNvSpPr/>
          <p:nvPr/>
        </p:nvSpPr>
        <p:spPr>
          <a:xfrm>
            <a:off x="548640" y="3291840"/>
            <a:ext cx="1920240" cy="502920"/>
          </a:xfrm>
          <a:prstGeom prst="rect">
            <a:avLst/>
          </a:prstGeom>
          <a:noFill/>
          <a:ln/>
        </p:spPr>
        <p:txBody>
          <a:bodyPr wrap="square" rtlCol="0" anchor="ctr"/>
          <a:lstStyle/>
          <a:p>
            <a:pPr algn="ctr" indent="0" marL="0">
              <a:buNone/>
            </a:pPr>
            <a:r>
              <a:rPr lang="en-US" sz="1400" b="1" dirty="0">
                <a:solidFill>
                  <a:srgbClr val="FFFFFF"/>
                </a:solidFill>
              </a:rPr>
              <a:t>List</a:t>
            </a:r>
            <a:endParaRPr lang="en-US" sz="1400" dirty="0"/>
          </a:p>
        </p:txBody>
      </p:sp>
      <p:sp>
        <p:nvSpPr>
          <p:cNvPr id="8" name="Shape 6"/>
          <p:cNvSpPr/>
          <p:nvPr/>
        </p:nvSpPr>
        <p:spPr>
          <a:xfrm>
            <a:off x="2697480" y="3291840"/>
            <a:ext cx="1920240" cy="502920"/>
          </a:xfrm>
          <a:prstGeom prst="rect">
            <a:avLst>
              <a:gd name="adj" fmla="val 14545"/>
            </a:avLst>
          </a:prstGeom>
          <a:solidFill>
            <a:srgbClr val="0891B2">
              <a:alpha val="80000"/>
            </a:srgbClr>
          </a:solidFill>
          <a:ln w="12700">
            <a:solidFill>
              <a:srgbClr val="0891B2"/>
            </a:solidFill>
            <a:prstDash val="solid"/>
          </a:ln>
        </p:spPr>
      </p:sp>
      <p:sp>
        <p:nvSpPr>
          <p:cNvPr id="9" name="Text 7"/>
          <p:cNvSpPr/>
          <p:nvPr/>
        </p:nvSpPr>
        <p:spPr>
          <a:xfrm>
            <a:off x="2697480" y="3291840"/>
            <a:ext cx="1920240" cy="502920"/>
          </a:xfrm>
          <a:prstGeom prst="rect">
            <a:avLst/>
          </a:prstGeom>
          <a:noFill/>
          <a:ln/>
        </p:spPr>
        <p:txBody>
          <a:bodyPr wrap="square" rtlCol="0" anchor="ctr"/>
          <a:lstStyle/>
          <a:p>
            <a:pPr algn="ctr" indent="0" marL="0">
              <a:buNone/>
            </a:pPr>
            <a:r>
              <a:rPr lang="en-US" sz="1400" b="1" dirty="0">
                <a:solidFill>
                  <a:srgbClr val="FFFFFF"/>
                </a:solidFill>
              </a:rPr>
              <a:t>Tuple</a:t>
            </a:r>
            <a:endParaRPr lang="en-US" sz="1400" dirty="0"/>
          </a:p>
        </p:txBody>
      </p:sp>
      <p:sp>
        <p:nvSpPr>
          <p:cNvPr id="10" name="Shape 8"/>
          <p:cNvSpPr/>
          <p:nvPr/>
        </p:nvSpPr>
        <p:spPr>
          <a:xfrm>
            <a:off x="4846320" y="3291840"/>
            <a:ext cx="1920240" cy="502920"/>
          </a:xfrm>
          <a:prstGeom prst="rect">
            <a:avLst>
              <a:gd name="adj" fmla="val 14545"/>
            </a:avLst>
          </a:prstGeom>
          <a:solidFill>
            <a:srgbClr val="7C3AED">
              <a:alpha val="80000"/>
            </a:srgbClr>
          </a:solidFill>
          <a:ln w="12700">
            <a:solidFill>
              <a:srgbClr val="7C3AED"/>
            </a:solidFill>
            <a:prstDash val="solid"/>
          </a:ln>
        </p:spPr>
      </p:sp>
      <p:sp>
        <p:nvSpPr>
          <p:cNvPr id="11" name="Text 9"/>
          <p:cNvSpPr/>
          <p:nvPr/>
        </p:nvSpPr>
        <p:spPr>
          <a:xfrm>
            <a:off x="4846320" y="3291840"/>
            <a:ext cx="1920240" cy="502920"/>
          </a:xfrm>
          <a:prstGeom prst="rect">
            <a:avLst/>
          </a:prstGeom>
          <a:noFill/>
          <a:ln/>
        </p:spPr>
        <p:txBody>
          <a:bodyPr wrap="square" rtlCol="0" anchor="ctr"/>
          <a:lstStyle/>
          <a:p>
            <a:pPr algn="ctr" indent="0" marL="0">
              <a:buNone/>
            </a:pPr>
            <a:r>
              <a:rPr lang="en-US" sz="1400" b="1" dirty="0">
                <a:solidFill>
                  <a:srgbClr val="FFFFFF"/>
                </a:solidFill>
              </a:rPr>
              <a:t>Set</a:t>
            </a:r>
            <a:endParaRPr lang="en-US" sz="1400" dirty="0"/>
          </a:p>
        </p:txBody>
      </p:sp>
      <p:sp>
        <p:nvSpPr>
          <p:cNvPr id="12" name="Shape 10"/>
          <p:cNvSpPr/>
          <p:nvPr/>
        </p:nvSpPr>
        <p:spPr>
          <a:xfrm>
            <a:off x="6995160" y="3291840"/>
            <a:ext cx="1920240" cy="502920"/>
          </a:xfrm>
          <a:prstGeom prst="rect">
            <a:avLst>
              <a:gd name="adj" fmla="val 14545"/>
            </a:avLst>
          </a:prstGeom>
          <a:solidFill>
            <a:srgbClr val="D97706">
              <a:alpha val="80000"/>
            </a:srgbClr>
          </a:solidFill>
          <a:ln w="12700">
            <a:solidFill>
              <a:srgbClr val="D97706"/>
            </a:solidFill>
            <a:prstDash val="solid"/>
          </a:ln>
        </p:spPr>
      </p:sp>
      <p:sp>
        <p:nvSpPr>
          <p:cNvPr id="13" name="Text 11"/>
          <p:cNvSpPr/>
          <p:nvPr/>
        </p:nvSpPr>
        <p:spPr>
          <a:xfrm>
            <a:off x="6995160" y="3291840"/>
            <a:ext cx="1920240" cy="502920"/>
          </a:xfrm>
          <a:prstGeom prst="rect">
            <a:avLst/>
          </a:prstGeom>
          <a:noFill/>
          <a:ln/>
        </p:spPr>
        <p:txBody>
          <a:bodyPr wrap="square" rtlCol="0" anchor="ctr"/>
          <a:lstStyle/>
          <a:p>
            <a:pPr algn="ctr" indent="0" marL="0">
              <a:buNone/>
            </a:pPr>
            <a:r>
              <a:rPr lang="en-US" sz="1400" b="1" dirty="0">
                <a:solidFill>
                  <a:srgbClr val="FFFFFF"/>
                </a:solidFill>
              </a:rPr>
              <a:t>Dictionary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indent="0" marL="0">
              <a:buNone/>
            </a:pPr>
            <a:r>
              <a:rPr lang="en-US" sz="3000" b="1" dirty="0">
                <a:solidFill>
                  <a:srgbClr val="1B2A6B"/>
                </a:solidFill>
              </a:rPr>
              <a:t>Why Do We Need These?</a:t>
            </a:r>
            <a:endParaRPr lang="en-US" sz="3000" dirty="0"/>
          </a:p>
        </p:txBody>
      </p:sp>
      <p:sp>
        <p:nvSpPr>
          <p:cNvPr id="3" name="Text 1"/>
          <p:cNvSpPr/>
          <p:nvPr/>
        </p:nvSpPr>
        <p:spPr>
          <a:xfrm>
            <a:off x="457200" y="1005840"/>
            <a:ext cx="8229600" cy="411480"/>
          </a:xfrm>
          <a:prstGeom prst="rect">
            <a:avLst/>
          </a:prstGeom>
          <a:noFill/>
          <a:ln/>
        </p:spPr>
        <p:txBody>
          <a:bodyPr wrap="square" rtlCol="0" anchor="ctr"/>
          <a:lstStyle/>
          <a:p>
            <a:pPr indent="0" marL="0">
              <a:buNone/>
            </a:pPr>
            <a:r>
              <a:rPr lang="en-US" sz="1500" i="1" dirty="0">
                <a:solidFill>
                  <a:srgbClr val="64748B"/>
                </a:solidFill>
              </a:rPr>
              <a:t>In Python, we often need to store multiple values at once</a:t>
            </a:r>
            <a:endParaRPr lang="en-US" sz="1500" dirty="0"/>
          </a:p>
        </p:txBody>
      </p:sp>
      <p:sp>
        <p:nvSpPr>
          <p:cNvPr id="4" name="Shape 2"/>
          <p:cNvSpPr/>
          <p:nvPr/>
        </p:nvSpPr>
        <p:spPr>
          <a:xfrm>
            <a:off x="457200" y="1508760"/>
            <a:ext cx="3931920" cy="118872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6000"/>
              </a:srgbClr>
            </a:outerShdw>
          </a:effectLst>
        </p:spPr>
      </p:sp>
      <p:sp>
        <p:nvSpPr>
          <p:cNvPr id="5" name="Shape 3"/>
          <p:cNvSpPr/>
          <p:nvPr/>
        </p:nvSpPr>
        <p:spPr>
          <a:xfrm>
            <a:off x="457200" y="1508760"/>
            <a:ext cx="64008" cy="1188720"/>
          </a:xfrm>
          <a:prstGeom prst="rect">
            <a:avLst/>
          </a:prstGeom>
          <a:solidFill>
            <a:srgbClr val="2563EB"/>
          </a:solidFill>
          <a:ln w="12700">
            <a:solidFill>
              <a:srgbClr val="2563EB"/>
            </a:solidFill>
            <a:prstDash val="solid"/>
          </a:ln>
        </p:spPr>
      </p:sp>
      <p:sp>
        <p:nvSpPr>
          <p:cNvPr id="6" name="Text 4"/>
          <p:cNvSpPr/>
          <p:nvPr/>
        </p:nvSpPr>
        <p:spPr>
          <a:xfrm>
            <a:off x="640080" y="1618488"/>
            <a:ext cx="3657600" cy="320040"/>
          </a:xfrm>
          <a:prstGeom prst="rect">
            <a:avLst/>
          </a:prstGeom>
          <a:noFill/>
          <a:ln/>
        </p:spPr>
        <p:txBody>
          <a:bodyPr wrap="square" rtlCol="0" anchor="ctr"/>
          <a:lstStyle/>
          <a:p>
            <a:pPr indent="0" marL="0">
              <a:buNone/>
            </a:pPr>
            <a:r>
              <a:rPr lang="en-US" sz="1400" b="1" dirty="0">
                <a:solidFill>
                  <a:srgbClr val="1E293B"/>
                </a:solidFill>
              </a:rPr>
              <a:t>Student list</a:t>
            </a:r>
            <a:endParaRPr lang="en-US" sz="1400" dirty="0"/>
          </a:p>
        </p:txBody>
      </p:sp>
      <p:sp>
        <p:nvSpPr>
          <p:cNvPr id="7" name="Text 5"/>
          <p:cNvSpPr/>
          <p:nvPr/>
        </p:nvSpPr>
        <p:spPr>
          <a:xfrm>
            <a:off x="640080" y="2011680"/>
            <a:ext cx="3657600" cy="502920"/>
          </a:xfrm>
          <a:prstGeom prst="rect">
            <a:avLst/>
          </a:prstGeom>
          <a:noFill/>
          <a:ln/>
        </p:spPr>
        <p:txBody>
          <a:bodyPr wrap="square" rtlCol="0" anchor="ctr"/>
          <a:lstStyle/>
          <a:p>
            <a:pPr indent="0" marL="0">
              <a:buNone/>
            </a:pPr>
            <a:r>
              <a:rPr lang="en-US" sz="1100" dirty="0">
                <a:solidFill>
                  <a:srgbClr val="64748B"/>
                </a:solidFill>
                <a:latin typeface="Consolas" pitchFamily="34" charset="0"/>
                <a:ea typeface="Consolas" pitchFamily="34" charset="-122"/>
                <a:cs typeface="Consolas" pitchFamily="34" charset="-120"/>
              </a:rPr>
              <a:t>["An", "Bình", "Cường"]</a:t>
            </a:r>
            <a:endParaRPr lang="en-US" sz="1100" dirty="0"/>
          </a:p>
        </p:txBody>
      </p:sp>
      <p:sp>
        <p:nvSpPr>
          <p:cNvPr id="8" name="Shape 6"/>
          <p:cNvSpPr/>
          <p:nvPr/>
        </p:nvSpPr>
        <p:spPr>
          <a:xfrm>
            <a:off x="4754880" y="1508760"/>
            <a:ext cx="3931920" cy="118872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6000"/>
              </a:srgbClr>
            </a:outerShdw>
          </a:effectLst>
        </p:spPr>
      </p:sp>
      <p:sp>
        <p:nvSpPr>
          <p:cNvPr id="9" name="Shape 7"/>
          <p:cNvSpPr/>
          <p:nvPr/>
        </p:nvSpPr>
        <p:spPr>
          <a:xfrm>
            <a:off x="4754880" y="1508760"/>
            <a:ext cx="64008" cy="1188720"/>
          </a:xfrm>
          <a:prstGeom prst="rect">
            <a:avLst/>
          </a:prstGeom>
          <a:solidFill>
            <a:srgbClr val="0891B2"/>
          </a:solidFill>
          <a:ln w="12700">
            <a:solidFill>
              <a:srgbClr val="0891B2"/>
            </a:solidFill>
            <a:prstDash val="solid"/>
          </a:ln>
        </p:spPr>
      </p:sp>
      <p:sp>
        <p:nvSpPr>
          <p:cNvPr id="10" name="Text 8"/>
          <p:cNvSpPr/>
          <p:nvPr/>
        </p:nvSpPr>
        <p:spPr>
          <a:xfrm>
            <a:off x="4937760" y="1618488"/>
            <a:ext cx="3657600" cy="320040"/>
          </a:xfrm>
          <a:prstGeom prst="rect">
            <a:avLst/>
          </a:prstGeom>
          <a:noFill/>
          <a:ln/>
        </p:spPr>
        <p:txBody>
          <a:bodyPr wrap="square" rtlCol="0" anchor="ctr"/>
          <a:lstStyle/>
          <a:p>
            <a:pPr indent="0" marL="0">
              <a:buNone/>
            </a:pPr>
            <a:r>
              <a:rPr lang="en-US" sz="1400" b="1" dirty="0">
                <a:solidFill>
                  <a:srgbClr val="1E293B"/>
                </a:solidFill>
              </a:rPr>
              <a:t>Scores</a:t>
            </a:r>
            <a:endParaRPr lang="en-US" sz="1400" dirty="0"/>
          </a:p>
        </p:txBody>
      </p:sp>
      <p:sp>
        <p:nvSpPr>
          <p:cNvPr id="11" name="Text 9"/>
          <p:cNvSpPr/>
          <p:nvPr/>
        </p:nvSpPr>
        <p:spPr>
          <a:xfrm>
            <a:off x="4937760" y="2011680"/>
            <a:ext cx="3657600" cy="502920"/>
          </a:xfrm>
          <a:prstGeom prst="rect">
            <a:avLst/>
          </a:prstGeom>
          <a:noFill/>
          <a:ln/>
        </p:spPr>
        <p:txBody>
          <a:bodyPr wrap="square" rtlCol="0" anchor="ctr"/>
          <a:lstStyle/>
          <a:p>
            <a:pPr indent="0" marL="0">
              <a:buNone/>
            </a:pPr>
            <a:r>
              <a:rPr lang="en-US" sz="1100" dirty="0">
                <a:solidFill>
                  <a:srgbClr val="64748B"/>
                </a:solidFill>
                <a:latin typeface="Consolas" pitchFamily="34" charset="0"/>
                <a:ea typeface="Consolas" pitchFamily="34" charset="-122"/>
                <a:cs typeface="Consolas" pitchFamily="34" charset="-120"/>
              </a:rPr>
              <a:t>[8.5, 9.0, 7.5]</a:t>
            </a:r>
            <a:endParaRPr lang="en-US" sz="1100" dirty="0"/>
          </a:p>
        </p:txBody>
      </p:sp>
      <p:sp>
        <p:nvSpPr>
          <p:cNvPr id="12" name="Shape 10"/>
          <p:cNvSpPr/>
          <p:nvPr/>
        </p:nvSpPr>
        <p:spPr>
          <a:xfrm>
            <a:off x="457200" y="2880360"/>
            <a:ext cx="3931920" cy="118872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6000"/>
              </a:srgbClr>
            </a:outerShdw>
          </a:effectLst>
        </p:spPr>
      </p:sp>
      <p:sp>
        <p:nvSpPr>
          <p:cNvPr id="13" name="Shape 11"/>
          <p:cNvSpPr/>
          <p:nvPr/>
        </p:nvSpPr>
        <p:spPr>
          <a:xfrm>
            <a:off x="457200" y="2880360"/>
            <a:ext cx="64008" cy="1188720"/>
          </a:xfrm>
          <a:prstGeom prst="rect">
            <a:avLst/>
          </a:prstGeom>
          <a:solidFill>
            <a:srgbClr val="7C3AED"/>
          </a:solidFill>
          <a:ln w="12700">
            <a:solidFill>
              <a:srgbClr val="7C3AED"/>
            </a:solidFill>
            <a:prstDash val="solid"/>
          </a:ln>
        </p:spPr>
      </p:sp>
      <p:sp>
        <p:nvSpPr>
          <p:cNvPr id="14" name="Text 12"/>
          <p:cNvSpPr/>
          <p:nvPr/>
        </p:nvSpPr>
        <p:spPr>
          <a:xfrm>
            <a:off x="640080" y="2990088"/>
            <a:ext cx="3657600" cy="320040"/>
          </a:xfrm>
          <a:prstGeom prst="rect">
            <a:avLst/>
          </a:prstGeom>
          <a:noFill/>
          <a:ln/>
        </p:spPr>
        <p:txBody>
          <a:bodyPr wrap="square" rtlCol="0" anchor="ctr"/>
          <a:lstStyle/>
          <a:p>
            <a:pPr indent="0" marL="0">
              <a:buNone/>
            </a:pPr>
            <a:r>
              <a:rPr lang="en-US" sz="1400" b="1" dirty="0">
                <a:solidFill>
                  <a:srgbClr val="1E293B"/>
                </a:solidFill>
              </a:rPr>
              <a:t>Phone numbers</a:t>
            </a:r>
            <a:endParaRPr lang="en-US" sz="1400" dirty="0"/>
          </a:p>
        </p:txBody>
      </p:sp>
      <p:sp>
        <p:nvSpPr>
          <p:cNvPr id="15" name="Text 13"/>
          <p:cNvSpPr/>
          <p:nvPr/>
        </p:nvSpPr>
        <p:spPr>
          <a:xfrm>
            <a:off x="640080" y="3383280"/>
            <a:ext cx="3657600" cy="502920"/>
          </a:xfrm>
          <a:prstGeom prst="rect">
            <a:avLst/>
          </a:prstGeom>
          <a:noFill/>
          <a:ln/>
        </p:spPr>
        <p:txBody>
          <a:bodyPr wrap="square" rtlCol="0" anchor="ctr"/>
          <a:lstStyle/>
          <a:p>
            <a:pPr indent="0" marL="0">
              <a:buNone/>
            </a:pPr>
            <a:r>
              <a:rPr lang="en-US" sz="1100" dirty="0">
                <a:solidFill>
                  <a:srgbClr val="64748B"/>
                </a:solidFill>
                <a:latin typeface="Consolas" pitchFamily="34" charset="0"/>
                <a:ea typeface="Consolas" pitchFamily="34" charset="-122"/>
                <a:cs typeface="Consolas" pitchFamily="34" charset="-120"/>
              </a:rPr>
              <a:t>{"Alice": "0912..."}</a:t>
            </a:r>
            <a:endParaRPr lang="en-US" sz="1100" dirty="0"/>
          </a:p>
        </p:txBody>
      </p:sp>
      <p:sp>
        <p:nvSpPr>
          <p:cNvPr id="16" name="Shape 14"/>
          <p:cNvSpPr/>
          <p:nvPr/>
        </p:nvSpPr>
        <p:spPr>
          <a:xfrm>
            <a:off x="4754880" y="2880360"/>
            <a:ext cx="3931920" cy="118872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6000"/>
              </a:srgbClr>
            </a:outerShdw>
          </a:effectLst>
        </p:spPr>
      </p:sp>
      <p:sp>
        <p:nvSpPr>
          <p:cNvPr id="17" name="Shape 15"/>
          <p:cNvSpPr/>
          <p:nvPr/>
        </p:nvSpPr>
        <p:spPr>
          <a:xfrm>
            <a:off x="4754880" y="2880360"/>
            <a:ext cx="64008" cy="1188720"/>
          </a:xfrm>
          <a:prstGeom prst="rect">
            <a:avLst/>
          </a:prstGeom>
          <a:solidFill>
            <a:srgbClr val="D97706"/>
          </a:solidFill>
          <a:ln w="12700">
            <a:solidFill>
              <a:srgbClr val="D97706"/>
            </a:solidFill>
            <a:prstDash val="solid"/>
          </a:ln>
        </p:spPr>
      </p:sp>
      <p:sp>
        <p:nvSpPr>
          <p:cNvPr id="18" name="Text 16"/>
          <p:cNvSpPr/>
          <p:nvPr/>
        </p:nvSpPr>
        <p:spPr>
          <a:xfrm>
            <a:off x="4937760" y="2990088"/>
            <a:ext cx="3657600" cy="320040"/>
          </a:xfrm>
          <a:prstGeom prst="rect">
            <a:avLst/>
          </a:prstGeom>
          <a:noFill/>
          <a:ln/>
        </p:spPr>
        <p:txBody>
          <a:bodyPr wrap="square" rtlCol="0" anchor="ctr"/>
          <a:lstStyle/>
          <a:p>
            <a:pPr indent="0" marL="0">
              <a:buNone/>
            </a:pPr>
            <a:r>
              <a:rPr lang="en-US" sz="1400" b="1" dirty="0">
                <a:solidFill>
                  <a:srgbClr val="1E293B"/>
                </a:solidFill>
              </a:rPr>
              <a:t>User info</a:t>
            </a:r>
            <a:endParaRPr lang="en-US" sz="1400" dirty="0"/>
          </a:p>
        </p:txBody>
      </p:sp>
      <p:sp>
        <p:nvSpPr>
          <p:cNvPr id="19" name="Text 17"/>
          <p:cNvSpPr/>
          <p:nvPr/>
        </p:nvSpPr>
        <p:spPr>
          <a:xfrm>
            <a:off x="4937760" y="3383280"/>
            <a:ext cx="3657600" cy="502920"/>
          </a:xfrm>
          <a:prstGeom prst="rect">
            <a:avLst/>
          </a:prstGeom>
          <a:noFill/>
          <a:ln/>
        </p:spPr>
        <p:txBody>
          <a:bodyPr wrap="square" rtlCol="0" anchor="ctr"/>
          <a:lstStyle/>
          <a:p>
            <a:pPr indent="0" marL="0">
              <a:buNone/>
            </a:pPr>
            <a:r>
              <a:rPr lang="en-US" sz="1100" dirty="0">
                <a:solidFill>
                  <a:srgbClr val="64748B"/>
                </a:solidFill>
                <a:latin typeface="Consolas" pitchFamily="34" charset="0"/>
                <a:ea typeface="Consolas" pitchFamily="34" charset="-122"/>
                <a:cs typeface="Consolas" pitchFamily="34" charset="-120"/>
              </a:rPr>
              <a:t>{"id": "SE01", "name": "An"}</a:t>
            </a:r>
            <a:endParaRPr lang="en-US" sz="1100" dirty="0"/>
          </a:p>
        </p:txBody>
      </p:sp>
      <p:sp>
        <p:nvSpPr>
          <p:cNvPr id="20" name="Text 18"/>
          <p:cNvSpPr/>
          <p:nvPr/>
        </p:nvSpPr>
        <p:spPr>
          <a:xfrm>
            <a:off x="457200" y="4206240"/>
            <a:ext cx="8229600" cy="365760"/>
          </a:xfrm>
          <a:prstGeom prst="rect">
            <a:avLst/>
          </a:prstGeom>
          <a:noFill/>
          <a:ln/>
        </p:spPr>
        <p:txBody>
          <a:bodyPr wrap="square" rtlCol="0" anchor="ctr"/>
          <a:lstStyle/>
          <a:p>
            <a:pPr indent="0" marL="0">
              <a:buNone/>
            </a:pPr>
            <a:r>
              <a:rPr lang="en-US" sz="1300" dirty="0">
                <a:solidFill>
                  <a:srgbClr val="64748B"/>
                </a:solidFill>
              </a:rPr>
              <a:t>Python provides 4 main types to handle multiple values: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563EB"/>
          </a:solidFill>
          <a:ln w="12700">
            <a:solidFill>
              <a:srgbClr val="2563EB"/>
            </a:solidFill>
            <a:prstDash val="solid"/>
          </a:ln>
        </p:spPr>
      </p:sp>
      <p:pic>
        <p:nvPicPr>
          <p:cNvPr id="3" name="Image 0" descr="preencoded.png">    </p:cNvPr>
          <p:cNvPicPr>
            <a:picLocks noChangeAspect="1"/>
          </p:cNvPicPr>
          <p:nvPr/>
        </p:nvPicPr>
        <p:blipFill>
          <a:blip r:embed="rId1"/>
          <a:stretch>
            <a:fillRect/>
          </a:stretch>
        </p:blipFill>
        <p:spPr>
          <a:xfrm>
            <a:off x="320040" y="164592"/>
            <a:ext cx="548640" cy="548640"/>
          </a:xfrm>
          <a:prstGeom prst="rect">
            <a:avLst/>
          </a:prstGeom>
        </p:spPr>
      </p:pic>
      <p:sp>
        <p:nvSpPr>
          <p:cNvPr id="4" name="Text 1"/>
          <p:cNvSpPr/>
          <p:nvPr/>
        </p:nvSpPr>
        <p:spPr>
          <a:xfrm>
            <a:off x="1005840" y="137160"/>
            <a:ext cx="7772400" cy="640080"/>
          </a:xfrm>
          <a:prstGeom prst="rect">
            <a:avLst/>
          </a:prstGeom>
          <a:noFill/>
          <a:ln/>
        </p:spPr>
        <p:txBody>
          <a:bodyPr wrap="square" rtlCol="0" anchor="ctr"/>
          <a:lstStyle/>
          <a:p>
            <a:pPr indent="0" marL="0">
              <a:buNone/>
            </a:pPr>
            <a:r>
              <a:rPr lang="en-US" sz="2600" b="1" dirty="0">
                <a:solidFill>
                  <a:srgbClr val="FFFFFF"/>
                </a:solidFill>
              </a:rPr>
              <a:t>List — Flexible, Ordered Collection</a:t>
            </a:r>
            <a:endParaRPr lang="en-US" sz="2600" dirty="0"/>
          </a:p>
        </p:txBody>
      </p:sp>
      <p:sp>
        <p:nvSpPr>
          <p:cNvPr id="5" name="Text 2"/>
          <p:cNvSpPr/>
          <p:nvPr/>
        </p:nvSpPr>
        <p:spPr>
          <a:xfrm>
            <a:off x="457200" y="1051560"/>
            <a:ext cx="8229600" cy="502920"/>
          </a:xfrm>
          <a:prstGeom prst="rect">
            <a:avLst/>
          </a:prstGeom>
          <a:noFill/>
          <a:ln/>
        </p:spPr>
        <p:txBody>
          <a:bodyPr wrap="square" rtlCol="0" anchor="ctr"/>
          <a:lstStyle/>
          <a:p>
            <a:pPr indent="0" marL="0">
              <a:buNone/>
            </a:pPr>
            <a:r>
              <a:rPr lang="en-US" sz="1500" dirty="0">
                <a:solidFill>
                  <a:srgbClr val="64748B"/>
                </a:solidFill>
              </a:rPr>
              <a:t>A List stores multiple values in one variable — in order, and you can change it anytime.</a:t>
            </a:r>
            <a:endParaRPr lang="en-US" sz="1500" dirty="0"/>
          </a:p>
        </p:txBody>
      </p:sp>
      <p:sp>
        <p:nvSpPr>
          <p:cNvPr id="6" name="Shape 3"/>
          <p:cNvSpPr/>
          <p:nvPr/>
        </p:nvSpPr>
        <p:spPr>
          <a:xfrm>
            <a:off x="457200" y="1600200"/>
            <a:ext cx="5029200" cy="1371600"/>
          </a:xfrm>
          <a:prstGeom prst="rect">
            <a:avLst>
              <a:gd name="adj" fmla="val 5333"/>
            </a:avLst>
          </a:prstGeom>
          <a:solidFill>
            <a:srgbClr val="1E293B"/>
          </a:solidFill>
          <a:ln w="12700">
            <a:solidFill>
              <a:srgbClr val="1E293B"/>
            </a:solidFill>
            <a:prstDash val="solid"/>
          </a:ln>
        </p:spPr>
      </p:sp>
      <p:sp>
        <p:nvSpPr>
          <p:cNvPr id="7" name="Text 4"/>
          <p:cNvSpPr/>
          <p:nvPr/>
        </p:nvSpPr>
        <p:spPr>
          <a:xfrm>
            <a:off x="640080" y="1691640"/>
            <a:ext cx="4663440" cy="1097280"/>
          </a:xfrm>
          <a:prstGeom prst="rect">
            <a:avLst/>
          </a:prstGeom>
          <a:noFill/>
          <a:ln/>
        </p:spPr>
        <p:txBody>
          <a:bodyPr wrap="square" rtlCol="0" anchor="ctr"/>
          <a:lstStyle/>
          <a:p>
            <a:pPr indent="0" marL="0">
              <a:buNone/>
            </a:pPr>
            <a:r>
              <a:rPr lang="en-US" sz="1300" dirty="0">
                <a:solidFill>
                  <a:srgbClr val="6B7280"/>
                </a:solidFill>
                <a:latin typeface="Consolas" pitchFamily="34" charset="0"/>
                <a:ea typeface="Consolas" pitchFamily="34" charset="-122"/>
                <a:cs typeface="Consolas" pitchFamily="34" charset="-120"/>
              </a:rPr>
              <a:t># Example</a:t>
            </a:r>
            <a:endParaRPr lang="en-US" sz="1300" dirty="0"/>
          </a:p>
          <a:p>
            <a:pPr indent="0" marL="0">
              <a:buNone/>
            </a:pPr>
            <a:r>
              <a:rPr lang="en-US" sz="1300" dirty="0">
                <a:solidFill>
                  <a:srgbClr val="93C5FD"/>
                </a:solidFill>
                <a:latin typeface="Consolas" pitchFamily="34" charset="0"/>
                <a:ea typeface="Consolas" pitchFamily="34" charset="-122"/>
                <a:cs typeface="Consolas" pitchFamily="34" charset="-120"/>
              </a:rPr>
              <a:t>students </a:t>
            </a:r>
            <a:pPr indent="0" marL="0">
              <a:buNone/>
            </a:pPr>
            <a:r>
              <a:rPr lang="en-US" sz="1300" dirty="0">
                <a:solidFill>
                  <a:srgbClr val="E5E7EB"/>
                </a:solidFill>
                <a:latin typeface="Consolas" pitchFamily="34" charset="0"/>
                <a:ea typeface="Consolas" pitchFamily="34" charset="-122"/>
                <a:cs typeface="Consolas" pitchFamily="34" charset="-120"/>
              </a:rPr>
              <a:t>= </a:t>
            </a:r>
            <a:pPr indent="0" marL="0">
              <a:buNone/>
            </a:pPr>
            <a:r>
              <a:rPr lang="en-US" sz="1300" dirty="0">
                <a:solidFill>
                  <a:srgbClr val="86EFAC"/>
                </a:solidFill>
                <a:latin typeface="Consolas" pitchFamily="34" charset="0"/>
                <a:ea typeface="Consolas" pitchFamily="34" charset="-122"/>
                <a:cs typeface="Consolas" pitchFamily="34" charset="-120"/>
              </a:rPr>
              <a:t>["An", "Bình", "Cường", "Dũng"]</a:t>
            </a:r>
            <a:endParaRPr lang="en-US" sz="1300" dirty="0"/>
          </a:p>
        </p:txBody>
      </p:sp>
      <p:sp>
        <p:nvSpPr>
          <p:cNvPr id="8" name="Text 5"/>
          <p:cNvSpPr/>
          <p:nvPr/>
        </p:nvSpPr>
        <p:spPr>
          <a:xfrm>
            <a:off x="5760720" y="1600200"/>
            <a:ext cx="3108960" cy="2011680"/>
          </a:xfrm>
          <a:prstGeom prst="rect">
            <a:avLst/>
          </a:prstGeom>
          <a:noFill/>
          <a:ln/>
        </p:spPr>
        <p:txBody>
          <a:bodyPr wrap="square" rtlCol="0" anchor="ctr"/>
          <a:lstStyle/>
          <a:p>
            <a:pPr marL="342900" indent="-342900">
              <a:buSzPct val="100000"/>
              <a:buChar char="•"/>
            </a:pPr>
            <a:r>
              <a:rPr lang="en-US" sz="1300" dirty="0">
                <a:solidFill>
                  <a:srgbClr val="1E293B"/>
                </a:solidFill>
              </a:rPr>
              <a:t>Ordered — keeps insertion order</a:t>
            </a:r>
            <a:endParaRPr lang="en-US" sz="1300" dirty="0"/>
          </a:p>
          <a:p>
            <a:pPr marL="342900" indent="-342900">
              <a:buSzPct val="100000"/>
              <a:buChar char="•"/>
            </a:pPr>
            <a:r>
              <a:rPr lang="en-US" sz="1300" dirty="0">
                <a:solidFill>
                  <a:srgbClr val="1E293B"/>
                </a:solidFill>
              </a:rPr>
              <a:t>Allows duplicate values</a:t>
            </a:r>
            <a:endParaRPr lang="en-US" sz="1300" dirty="0"/>
          </a:p>
          <a:p>
            <a:pPr marL="342900" indent="-342900">
              <a:buSzPct val="100000"/>
              <a:buChar char="•"/>
            </a:pPr>
            <a:r>
              <a:rPr lang="en-US" sz="1300" dirty="0">
                <a:solidFill>
                  <a:srgbClr val="1E293B"/>
                </a:solidFill>
              </a:rPr>
              <a:t>Changeable — add, edit, delete</a:t>
            </a:r>
            <a:endParaRPr lang="en-US" sz="1300" dirty="0"/>
          </a:p>
          <a:p>
            <a:pPr marL="342900" indent="-342900">
              <a:buSzPct val="100000"/>
              <a:buChar char="•"/>
            </a:pPr>
            <a:r>
              <a:rPr lang="en-US" sz="1300" dirty="0">
                <a:solidFill>
                  <a:srgbClr val="1E293B"/>
                </a:solidFill>
              </a:rPr>
              <a:t>Access by index (starts at 0)</a:t>
            </a:r>
            <a:endParaRPr lang="en-US" sz="1300" dirty="0"/>
          </a:p>
        </p:txBody>
      </p:sp>
      <p:sp>
        <p:nvSpPr>
          <p:cNvPr id="9" name="Shape 6"/>
          <p:cNvSpPr/>
          <p:nvPr/>
        </p:nvSpPr>
        <p:spPr>
          <a:xfrm>
            <a:off x="457200" y="3154680"/>
            <a:ext cx="8229600" cy="777240"/>
          </a:xfrm>
          <a:prstGeom prst="rect">
            <a:avLst/>
          </a:prstGeom>
          <a:solidFill>
            <a:srgbClr val="DBEAFE"/>
          </a:solidFill>
          <a:ln w="12700">
            <a:solidFill>
              <a:srgbClr val="2563EB"/>
            </a:solidFill>
            <a:prstDash val="solid"/>
          </a:ln>
        </p:spPr>
      </p:sp>
      <p:sp>
        <p:nvSpPr>
          <p:cNvPr id="10" name="Text 7"/>
          <p:cNvSpPr/>
          <p:nvPr/>
        </p:nvSpPr>
        <p:spPr>
          <a:xfrm>
            <a:off x="594360" y="3218688"/>
            <a:ext cx="7955280" cy="640080"/>
          </a:xfrm>
          <a:prstGeom prst="rect">
            <a:avLst/>
          </a:prstGeom>
          <a:noFill/>
          <a:ln/>
        </p:spPr>
        <p:txBody>
          <a:bodyPr wrap="square" rtlCol="0" anchor="ctr"/>
          <a:lstStyle/>
          <a:p>
            <a:pPr indent="0" marL="0">
              <a:buNone/>
            </a:pPr>
            <a:r>
              <a:rPr lang="en-US" sz="1300" dirty="0">
                <a:solidFill>
                  <a:srgbClr val="1B2A6B"/>
                </a:solidFill>
              </a:rPr>
              <a:t>📌  Best for: Student names, shopping carts, scores — anything that needs to change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563EB"/>
          </a:solidFill>
          <a:ln w="12700">
            <a:solidFill>
              <a:srgbClr val="2563EB"/>
            </a:solidFill>
            <a:prstDash val="solid"/>
          </a:ln>
        </p:spPr>
      </p:sp>
      <p:sp>
        <p:nvSpPr>
          <p:cNvPr id="3" name="Text 1"/>
          <p:cNvSpPr/>
          <p:nvPr/>
        </p:nvSpPr>
        <p:spPr>
          <a:xfrm>
            <a:off x="457200" y="91440"/>
            <a:ext cx="8229600" cy="594360"/>
          </a:xfrm>
          <a:prstGeom prst="rect">
            <a:avLst/>
          </a:prstGeom>
          <a:noFill/>
          <a:ln/>
        </p:spPr>
        <p:txBody>
          <a:bodyPr wrap="square" rtlCol="0" anchor="ctr"/>
          <a:lstStyle/>
          <a:p>
            <a:pPr indent="0" marL="0">
              <a:buNone/>
            </a:pPr>
            <a:r>
              <a:rPr lang="en-US" sz="2600" b="1" dirty="0">
                <a:solidFill>
                  <a:srgbClr val="FFFFFF"/>
                </a:solidFill>
              </a:rPr>
              <a:t>List — Key Methods</a:t>
            </a:r>
            <a:endParaRPr lang="en-US" sz="2600" dirty="0"/>
          </a:p>
        </p:txBody>
      </p:sp>
      <p:sp>
        <p:nvSpPr>
          <p:cNvPr id="4" name="Shape 2"/>
          <p:cNvSpPr/>
          <p:nvPr/>
        </p:nvSpPr>
        <p:spPr>
          <a:xfrm>
            <a:off x="365760" y="91440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5" name="Shape 3"/>
          <p:cNvSpPr/>
          <p:nvPr/>
        </p:nvSpPr>
        <p:spPr>
          <a:xfrm>
            <a:off x="365760" y="914400"/>
            <a:ext cx="2606040" cy="347472"/>
          </a:xfrm>
          <a:prstGeom prst="rect">
            <a:avLst/>
          </a:prstGeom>
          <a:solidFill>
            <a:srgbClr val="DBEAFE"/>
          </a:solidFill>
          <a:ln w="12700">
            <a:solidFill>
              <a:srgbClr val="DBEAFE"/>
            </a:solidFill>
            <a:prstDash val="solid"/>
          </a:ln>
        </p:spPr>
      </p:sp>
      <p:sp>
        <p:nvSpPr>
          <p:cNvPr id="6" name="Text 4"/>
          <p:cNvSpPr/>
          <p:nvPr/>
        </p:nvSpPr>
        <p:spPr>
          <a:xfrm>
            <a:off x="457200" y="950976"/>
            <a:ext cx="2423160" cy="274320"/>
          </a:xfrm>
          <a:prstGeom prst="rect">
            <a:avLst/>
          </a:prstGeom>
          <a:noFill/>
          <a:ln/>
        </p:spPr>
        <p:txBody>
          <a:bodyPr wrap="square" rtlCol="0" anchor="ctr"/>
          <a:lstStyle/>
          <a:p>
            <a:pPr indent="0" marL="0">
              <a:buNone/>
            </a:pPr>
            <a:r>
              <a:rPr lang="en-US" sz="1300" b="1" dirty="0">
                <a:solidFill>
                  <a:srgbClr val="2563EB"/>
                </a:solidFill>
                <a:latin typeface="Consolas" pitchFamily="34" charset="0"/>
                <a:ea typeface="Consolas" pitchFamily="34" charset="-122"/>
                <a:cs typeface="Consolas" pitchFamily="34" charset="-120"/>
              </a:rPr>
              <a:t>append()</a:t>
            </a:r>
            <a:endParaRPr lang="en-US" sz="1300" dirty="0"/>
          </a:p>
        </p:txBody>
      </p:sp>
      <p:sp>
        <p:nvSpPr>
          <p:cNvPr id="7" name="Text 5"/>
          <p:cNvSpPr/>
          <p:nvPr/>
        </p:nvSpPr>
        <p:spPr>
          <a:xfrm>
            <a:off x="457200" y="1325880"/>
            <a:ext cx="2423160" cy="548640"/>
          </a:xfrm>
          <a:prstGeom prst="rect">
            <a:avLst/>
          </a:prstGeom>
          <a:noFill/>
          <a:ln/>
        </p:spPr>
        <p:txBody>
          <a:bodyPr wrap="square" rtlCol="0" anchor="ctr"/>
          <a:lstStyle/>
          <a:p>
            <a:pPr indent="0" marL="0">
              <a:buNone/>
            </a:pPr>
            <a:r>
              <a:rPr lang="en-US" sz="1200" dirty="0">
                <a:solidFill>
                  <a:srgbClr val="1E293B"/>
                </a:solidFill>
              </a:rPr>
              <a:t>Add item to the end</a:t>
            </a:r>
            <a:endParaRPr lang="en-US" sz="1200" dirty="0"/>
          </a:p>
        </p:txBody>
      </p:sp>
      <p:sp>
        <p:nvSpPr>
          <p:cNvPr id="8" name="Shape 6"/>
          <p:cNvSpPr/>
          <p:nvPr/>
        </p:nvSpPr>
        <p:spPr>
          <a:xfrm>
            <a:off x="3200400" y="91440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9" name="Shape 7"/>
          <p:cNvSpPr/>
          <p:nvPr/>
        </p:nvSpPr>
        <p:spPr>
          <a:xfrm>
            <a:off x="3200400" y="914400"/>
            <a:ext cx="2606040" cy="347472"/>
          </a:xfrm>
          <a:prstGeom prst="rect">
            <a:avLst/>
          </a:prstGeom>
          <a:solidFill>
            <a:srgbClr val="DBEAFE"/>
          </a:solidFill>
          <a:ln w="12700">
            <a:solidFill>
              <a:srgbClr val="DBEAFE"/>
            </a:solidFill>
            <a:prstDash val="solid"/>
          </a:ln>
        </p:spPr>
      </p:sp>
      <p:sp>
        <p:nvSpPr>
          <p:cNvPr id="10" name="Text 8"/>
          <p:cNvSpPr/>
          <p:nvPr/>
        </p:nvSpPr>
        <p:spPr>
          <a:xfrm>
            <a:off x="3291840" y="950976"/>
            <a:ext cx="2423160" cy="274320"/>
          </a:xfrm>
          <a:prstGeom prst="rect">
            <a:avLst/>
          </a:prstGeom>
          <a:noFill/>
          <a:ln/>
        </p:spPr>
        <p:txBody>
          <a:bodyPr wrap="square" rtlCol="0" anchor="ctr"/>
          <a:lstStyle/>
          <a:p>
            <a:pPr indent="0" marL="0">
              <a:buNone/>
            </a:pPr>
            <a:r>
              <a:rPr lang="en-US" sz="1300" b="1" dirty="0">
                <a:solidFill>
                  <a:srgbClr val="2563EB"/>
                </a:solidFill>
                <a:latin typeface="Consolas" pitchFamily="34" charset="0"/>
                <a:ea typeface="Consolas" pitchFamily="34" charset="-122"/>
                <a:cs typeface="Consolas" pitchFamily="34" charset="-120"/>
              </a:rPr>
              <a:t>insert()</a:t>
            </a:r>
            <a:endParaRPr lang="en-US" sz="1300" dirty="0"/>
          </a:p>
        </p:txBody>
      </p:sp>
      <p:sp>
        <p:nvSpPr>
          <p:cNvPr id="11" name="Text 9"/>
          <p:cNvSpPr/>
          <p:nvPr/>
        </p:nvSpPr>
        <p:spPr>
          <a:xfrm>
            <a:off x="3291840" y="1325880"/>
            <a:ext cx="2423160" cy="548640"/>
          </a:xfrm>
          <a:prstGeom prst="rect">
            <a:avLst/>
          </a:prstGeom>
          <a:noFill/>
          <a:ln/>
        </p:spPr>
        <p:txBody>
          <a:bodyPr wrap="square" rtlCol="0" anchor="ctr"/>
          <a:lstStyle/>
          <a:p>
            <a:pPr indent="0" marL="0">
              <a:buNone/>
            </a:pPr>
            <a:r>
              <a:rPr lang="en-US" sz="1200" dirty="0">
                <a:solidFill>
                  <a:srgbClr val="1E293B"/>
                </a:solidFill>
              </a:rPr>
              <a:t>Add item at a position</a:t>
            </a:r>
            <a:endParaRPr lang="en-US" sz="1200" dirty="0"/>
          </a:p>
        </p:txBody>
      </p:sp>
      <p:sp>
        <p:nvSpPr>
          <p:cNvPr id="12" name="Shape 10"/>
          <p:cNvSpPr/>
          <p:nvPr/>
        </p:nvSpPr>
        <p:spPr>
          <a:xfrm>
            <a:off x="6035040" y="91440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13" name="Shape 11"/>
          <p:cNvSpPr/>
          <p:nvPr/>
        </p:nvSpPr>
        <p:spPr>
          <a:xfrm>
            <a:off x="6035040" y="914400"/>
            <a:ext cx="2606040" cy="347472"/>
          </a:xfrm>
          <a:prstGeom prst="rect">
            <a:avLst/>
          </a:prstGeom>
          <a:solidFill>
            <a:srgbClr val="DBEAFE"/>
          </a:solidFill>
          <a:ln w="12700">
            <a:solidFill>
              <a:srgbClr val="DBEAFE"/>
            </a:solidFill>
            <a:prstDash val="solid"/>
          </a:ln>
        </p:spPr>
      </p:sp>
      <p:sp>
        <p:nvSpPr>
          <p:cNvPr id="14" name="Text 12"/>
          <p:cNvSpPr/>
          <p:nvPr/>
        </p:nvSpPr>
        <p:spPr>
          <a:xfrm>
            <a:off x="6126480" y="950976"/>
            <a:ext cx="2423160" cy="274320"/>
          </a:xfrm>
          <a:prstGeom prst="rect">
            <a:avLst/>
          </a:prstGeom>
          <a:noFill/>
          <a:ln/>
        </p:spPr>
        <p:txBody>
          <a:bodyPr wrap="square" rtlCol="0" anchor="ctr"/>
          <a:lstStyle/>
          <a:p>
            <a:pPr indent="0" marL="0">
              <a:buNone/>
            </a:pPr>
            <a:r>
              <a:rPr lang="en-US" sz="1300" b="1" dirty="0">
                <a:solidFill>
                  <a:srgbClr val="2563EB"/>
                </a:solidFill>
                <a:latin typeface="Consolas" pitchFamily="34" charset="0"/>
                <a:ea typeface="Consolas" pitchFamily="34" charset="-122"/>
                <a:cs typeface="Consolas" pitchFamily="34" charset="-120"/>
              </a:rPr>
              <a:t>remove()</a:t>
            </a:r>
            <a:endParaRPr lang="en-US" sz="1300" dirty="0"/>
          </a:p>
        </p:txBody>
      </p:sp>
      <p:sp>
        <p:nvSpPr>
          <p:cNvPr id="15" name="Text 13"/>
          <p:cNvSpPr/>
          <p:nvPr/>
        </p:nvSpPr>
        <p:spPr>
          <a:xfrm>
            <a:off x="6126480" y="1325880"/>
            <a:ext cx="2423160" cy="548640"/>
          </a:xfrm>
          <a:prstGeom prst="rect">
            <a:avLst/>
          </a:prstGeom>
          <a:noFill/>
          <a:ln/>
        </p:spPr>
        <p:txBody>
          <a:bodyPr wrap="square" rtlCol="0" anchor="ctr"/>
          <a:lstStyle/>
          <a:p>
            <a:pPr indent="0" marL="0">
              <a:buNone/>
            </a:pPr>
            <a:r>
              <a:rPr lang="en-US" sz="1200" dirty="0">
                <a:solidFill>
                  <a:srgbClr val="1E293B"/>
                </a:solidFill>
              </a:rPr>
              <a:t>Delete by value</a:t>
            </a:r>
            <a:endParaRPr lang="en-US" sz="1200" dirty="0"/>
          </a:p>
        </p:txBody>
      </p:sp>
      <p:sp>
        <p:nvSpPr>
          <p:cNvPr id="16" name="Shape 14"/>
          <p:cNvSpPr/>
          <p:nvPr/>
        </p:nvSpPr>
        <p:spPr>
          <a:xfrm>
            <a:off x="365760" y="214884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17" name="Shape 15"/>
          <p:cNvSpPr/>
          <p:nvPr/>
        </p:nvSpPr>
        <p:spPr>
          <a:xfrm>
            <a:off x="365760" y="2148840"/>
            <a:ext cx="2606040" cy="347472"/>
          </a:xfrm>
          <a:prstGeom prst="rect">
            <a:avLst/>
          </a:prstGeom>
          <a:solidFill>
            <a:srgbClr val="DBEAFE"/>
          </a:solidFill>
          <a:ln w="12700">
            <a:solidFill>
              <a:srgbClr val="DBEAFE"/>
            </a:solidFill>
            <a:prstDash val="solid"/>
          </a:ln>
        </p:spPr>
      </p:sp>
      <p:sp>
        <p:nvSpPr>
          <p:cNvPr id="18" name="Text 16"/>
          <p:cNvSpPr/>
          <p:nvPr/>
        </p:nvSpPr>
        <p:spPr>
          <a:xfrm>
            <a:off x="457200" y="2185416"/>
            <a:ext cx="2423160" cy="274320"/>
          </a:xfrm>
          <a:prstGeom prst="rect">
            <a:avLst/>
          </a:prstGeom>
          <a:noFill/>
          <a:ln/>
        </p:spPr>
        <p:txBody>
          <a:bodyPr wrap="square" rtlCol="0" anchor="ctr"/>
          <a:lstStyle/>
          <a:p>
            <a:pPr indent="0" marL="0">
              <a:buNone/>
            </a:pPr>
            <a:r>
              <a:rPr lang="en-US" sz="1300" b="1" dirty="0">
                <a:solidFill>
                  <a:srgbClr val="2563EB"/>
                </a:solidFill>
                <a:latin typeface="Consolas" pitchFamily="34" charset="0"/>
                <a:ea typeface="Consolas" pitchFamily="34" charset="-122"/>
                <a:cs typeface="Consolas" pitchFamily="34" charset="-120"/>
              </a:rPr>
              <a:t>pop()</a:t>
            </a:r>
            <a:endParaRPr lang="en-US" sz="1300" dirty="0"/>
          </a:p>
        </p:txBody>
      </p:sp>
      <p:sp>
        <p:nvSpPr>
          <p:cNvPr id="19" name="Text 17"/>
          <p:cNvSpPr/>
          <p:nvPr/>
        </p:nvSpPr>
        <p:spPr>
          <a:xfrm>
            <a:off x="457200" y="2560320"/>
            <a:ext cx="2423160" cy="548640"/>
          </a:xfrm>
          <a:prstGeom prst="rect">
            <a:avLst/>
          </a:prstGeom>
          <a:noFill/>
          <a:ln/>
        </p:spPr>
        <p:txBody>
          <a:bodyPr wrap="square" rtlCol="0" anchor="ctr"/>
          <a:lstStyle/>
          <a:p>
            <a:pPr indent="0" marL="0">
              <a:buNone/>
            </a:pPr>
            <a:r>
              <a:rPr lang="en-US" sz="1200" dirty="0">
                <a:solidFill>
                  <a:srgbClr val="1E293B"/>
                </a:solidFill>
              </a:rPr>
              <a:t>Delete by index</a:t>
            </a:r>
            <a:endParaRPr lang="en-US" sz="1200" dirty="0"/>
          </a:p>
        </p:txBody>
      </p:sp>
      <p:sp>
        <p:nvSpPr>
          <p:cNvPr id="20" name="Shape 18"/>
          <p:cNvSpPr/>
          <p:nvPr/>
        </p:nvSpPr>
        <p:spPr>
          <a:xfrm>
            <a:off x="3200400" y="214884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21" name="Shape 19"/>
          <p:cNvSpPr/>
          <p:nvPr/>
        </p:nvSpPr>
        <p:spPr>
          <a:xfrm>
            <a:off x="3200400" y="2148840"/>
            <a:ext cx="2606040" cy="347472"/>
          </a:xfrm>
          <a:prstGeom prst="rect">
            <a:avLst/>
          </a:prstGeom>
          <a:solidFill>
            <a:srgbClr val="DBEAFE"/>
          </a:solidFill>
          <a:ln w="12700">
            <a:solidFill>
              <a:srgbClr val="DBEAFE"/>
            </a:solidFill>
            <a:prstDash val="solid"/>
          </a:ln>
        </p:spPr>
      </p:sp>
      <p:sp>
        <p:nvSpPr>
          <p:cNvPr id="22" name="Text 20"/>
          <p:cNvSpPr/>
          <p:nvPr/>
        </p:nvSpPr>
        <p:spPr>
          <a:xfrm>
            <a:off x="3291840" y="2185416"/>
            <a:ext cx="2423160" cy="274320"/>
          </a:xfrm>
          <a:prstGeom prst="rect">
            <a:avLst/>
          </a:prstGeom>
          <a:noFill/>
          <a:ln/>
        </p:spPr>
        <p:txBody>
          <a:bodyPr wrap="square" rtlCol="0" anchor="ctr"/>
          <a:lstStyle/>
          <a:p>
            <a:pPr indent="0" marL="0">
              <a:buNone/>
            </a:pPr>
            <a:r>
              <a:rPr lang="en-US" sz="1300" b="1" dirty="0">
                <a:solidFill>
                  <a:srgbClr val="2563EB"/>
                </a:solidFill>
                <a:latin typeface="Consolas" pitchFamily="34" charset="0"/>
                <a:ea typeface="Consolas" pitchFamily="34" charset="-122"/>
                <a:cs typeface="Consolas" pitchFamily="34" charset="-120"/>
              </a:rPr>
              <a:t>sort()</a:t>
            </a:r>
            <a:endParaRPr lang="en-US" sz="1300" dirty="0"/>
          </a:p>
        </p:txBody>
      </p:sp>
      <p:sp>
        <p:nvSpPr>
          <p:cNvPr id="23" name="Text 21"/>
          <p:cNvSpPr/>
          <p:nvPr/>
        </p:nvSpPr>
        <p:spPr>
          <a:xfrm>
            <a:off x="3291840" y="2560320"/>
            <a:ext cx="2423160" cy="548640"/>
          </a:xfrm>
          <a:prstGeom prst="rect">
            <a:avLst/>
          </a:prstGeom>
          <a:noFill/>
          <a:ln/>
        </p:spPr>
        <p:txBody>
          <a:bodyPr wrap="square" rtlCol="0" anchor="ctr"/>
          <a:lstStyle/>
          <a:p>
            <a:pPr indent="0" marL="0">
              <a:buNone/>
            </a:pPr>
            <a:r>
              <a:rPr lang="en-US" sz="1200" dirty="0">
                <a:solidFill>
                  <a:srgbClr val="1E293B"/>
                </a:solidFill>
              </a:rPr>
              <a:t>Sort the list</a:t>
            </a:r>
            <a:endParaRPr lang="en-US" sz="1200" dirty="0"/>
          </a:p>
        </p:txBody>
      </p:sp>
      <p:sp>
        <p:nvSpPr>
          <p:cNvPr id="24" name="Shape 22"/>
          <p:cNvSpPr/>
          <p:nvPr/>
        </p:nvSpPr>
        <p:spPr>
          <a:xfrm>
            <a:off x="6035040" y="214884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25" name="Shape 23"/>
          <p:cNvSpPr/>
          <p:nvPr/>
        </p:nvSpPr>
        <p:spPr>
          <a:xfrm>
            <a:off x="6035040" y="2148840"/>
            <a:ext cx="2606040" cy="347472"/>
          </a:xfrm>
          <a:prstGeom prst="rect">
            <a:avLst/>
          </a:prstGeom>
          <a:solidFill>
            <a:srgbClr val="DBEAFE"/>
          </a:solidFill>
          <a:ln w="12700">
            <a:solidFill>
              <a:srgbClr val="DBEAFE"/>
            </a:solidFill>
            <a:prstDash val="solid"/>
          </a:ln>
        </p:spPr>
      </p:sp>
      <p:sp>
        <p:nvSpPr>
          <p:cNvPr id="26" name="Text 24"/>
          <p:cNvSpPr/>
          <p:nvPr/>
        </p:nvSpPr>
        <p:spPr>
          <a:xfrm>
            <a:off x="6126480" y="2185416"/>
            <a:ext cx="2423160" cy="274320"/>
          </a:xfrm>
          <a:prstGeom prst="rect">
            <a:avLst/>
          </a:prstGeom>
          <a:noFill/>
          <a:ln/>
        </p:spPr>
        <p:txBody>
          <a:bodyPr wrap="square" rtlCol="0" anchor="ctr"/>
          <a:lstStyle/>
          <a:p>
            <a:pPr indent="0" marL="0">
              <a:buNone/>
            </a:pPr>
            <a:r>
              <a:rPr lang="en-US" sz="1300" b="1" dirty="0">
                <a:solidFill>
                  <a:srgbClr val="2563EB"/>
                </a:solidFill>
                <a:latin typeface="Consolas" pitchFamily="34" charset="0"/>
                <a:ea typeface="Consolas" pitchFamily="34" charset="-122"/>
                <a:cs typeface="Consolas" pitchFamily="34" charset="-120"/>
              </a:rPr>
              <a:t>reverse()</a:t>
            </a:r>
            <a:endParaRPr lang="en-US" sz="1300" dirty="0"/>
          </a:p>
        </p:txBody>
      </p:sp>
      <p:sp>
        <p:nvSpPr>
          <p:cNvPr id="27" name="Text 25"/>
          <p:cNvSpPr/>
          <p:nvPr/>
        </p:nvSpPr>
        <p:spPr>
          <a:xfrm>
            <a:off x="6126480" y="2560320"/>
            <a:ext cx="2423160" cy="548640"/>
          </a:xfrm>
          <a:prstGeom prst="rect">
            <a:avLst/>
          </a:prstGeom>
          <a:noFill/>
          <a:ln/>
        </p:spPr>
        <p:txBody>
          <a:bodyPr wrap="square" rtlCol="0" anchor="ctr"/>
          <a:lstStyle/>
          <a:p>
            <a:pPr indent="0" marL="0">
              <a:buNone/>
            </a:pPr>
            <a:r>
              <a:rPr lang="en-US" sz="1200" dirty="0">
                <a:solidFill>
                  <a:srgbClr val="1E293B"/>
                </a:solidFill>
              </a:rPr>
              <a:t>Reverse the list</a:t>
            </a:r>
            <a:endParaRPr lang="en-US" sz="1200" dirty="0"/>
          </a:p>
        </p:txBody>
      </p:sp>
      <p:sp>
        <p:nvSpPr>
          <p:cNvPr id="28" name="Shape 26"/>
          <p:cNvSpPr/>
          <p:nvPr/>
        </p:nvSpPr>
        <p:spPr>
          <a:xfrm>
            <a:off x="365760" y="338328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29" name="Shape 27"/>
          <p:cNvSpPr/>
          <p:nvPr/>
        </p:nvSpPr>
        <p:spPr>
          <a:xfrm>
            <a:off x="365760" y="3383280"/>
            <a:ext cx="2606040" cy="347472"/>
          </a:xfrm>
          <a:prstGeom prst="rect">
            <a:avLst/>
          </a:prstGeom>
          <a:solidFill>
            <a:srgbClr val="DBEAFE"/>
          </a:solidFill>
          <a:ln w="12700">
            <a:solidFill>
              <a:srgbClr val="DBEAFE"/>
            </a:solidFill>
            <a:prstDash val="solid"/>
          </a:ln>
        </p:spPr>
      </p:sp>
      <p:sp>
        <p:nvSpPr>
          <p:cNvPr id="30" name="Text 28"/>
          <p:cNvSpPr/>
          <p:nvPr/>
        </p:nvSpPr>
        <p:spPr>
          <a:xfrm>
            <a:off x="457200" y="3419856"/>
            <a:ext cx="2423160" cy="274320"/>
          </a:xfrm>
          <a:prstGeom prst="rect">
            <a:avLst/>
          </a:prstGeom>
          <a:noFill/>
          <a:ln/>
        </p:spPr>
        <p:txBody>
          <a:bodyPr wrap="square" rtlCol="0" anchor="ctr"/>
          <a:lstStyle/>
          <a:p>
            <a:pPr indent="0" marL="0">
              <a:buNone/>
            </a:pPr>
            <a:r>
              <a:rPr lang="en-US" sz="1300" b="1" dirty="0">
                <a:solidFill>
                  <a:srgbClr val="2563EB"/>
                </a:solidFill>
                <a:latin typeface="Consolas" pitchFamily="34" charset="0"/>
                <a:ea typeface="Consolas" pitchFamily="34" charset="-122"/>
                <a:cs typeface="Consolas" pitchFamily="34" charset="-120"/>
              </a:rPr>
              <a:t>count()</a:t>
            </a:r>
            <a:endParaRPr lang="en-US" sz="1300" dirty="0"/>
          </a:p>
        </p:txBody>
      </p:sp>
      <p:sp>
        <p:nvSpPr>
          <p:cNvPr id="31" name="Text 29"/>
          <p:cNvSpPr/>
          <p:nvPr/>
        </p:nvSpPr>
        <p:spPr>
          <a:xfrm>
            <a:off x="457200" y="3794760"/>
            <a:ext cx="2423160" cy="548640"/>
          </a:xfrm>
          <a:prstGeom prst="rect">
            <a:avLst/>
          </a:prstGeom>
          <a:noFill/>
          <a:ln/>
        </p:spPr>
        <p:txBody>
          <a:bodyPr wrap="square" rtlCol="0" anchor="ctr"/>
          <a:lstStyle/>
          <a:p>
            <a:pPr indent="0" marL="0">
              <a:buNone/>
            </a:pPr>
            <a:r>
              <a:rPr lang="en-US" sz="1200" dirty="0">
                <a:solidFill>
                  <a:srgbClr val="1E293B"/>
                </a:solidFill>
              </a:rPr>
              <a:t>Count occurrences</a:t>
            </a:r>
            <a:endParaRPr lang="en-US" sz="1200" dirty="0"/>
          </a:p>
        </p:txBody>
      </p:sp>
      <p:sp>
        <p:nvSpPr>
          <p:cNvPr id="32" name="Shape 30"/>
          <p:cNvSpPr/>
          <p:nvPr/>
        </p:nvSpPr>
        <p:spPr>
          <a:xfrm>
            <a:off x="3200400" y="338328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33" name="Shape 31"/>
          <p:cNvSpPr/>
          <p:nvPr/>
        </p:nvSpPr>
        <p:spPr>
          <a:xfrm>
            <a:off x="3200400" y="3383280"/>
            <a:ext cx="2606040" cy="347472"/>
          </a:xfrm>
          <a:prstGeom prst="rect">
            <a:avLst/>
          </a:prstGeom>
          <a:solidFill>
            <a:srgbClr val="DBEAFE"/>
          </a:solidFill>
          <a:ln w="12700">
            <a:solidFill>
              <a:srgbClr val="DBEAFE"/>
            </a:solidFill>
            <a:prstDash val="solid"/>
          </a:ln>
        </p:spPr>
      </p:sp>
      <p:sp>
        <p:nvSpPr>
          <p:cNvPr id="34" name="Text 32"/>
          <p:cNvSpPr/>
          <p:nvPr/>
        </p:nvSpPr>
        <p:spPr>
          <a:xfrm>
            <a:off x="3291840" y="3419856"/>
            <a:ext cx="2423160" cy="274320"/>
          </a:xfrm>
          <a:prstGeom prst="rect">
            <a:avLst/>
          </a:prstGeom>
          <a:noFill/>
          <a:ln/>
        </p:spPr>
        <p:txBody>
          <a:bodyPr wrap="square" rtlCol="0" anchor="ctr"/>
          <a:lstStyle/>
          <a:p>
            <a:pPr indent="0" marL="0">
              <a:buNone/>
            </a:pPr>
            <a:r>
              <a:rPr lang="en-US" sz="1300" b="1" dirty="0">
                <a:solidFill>
                  <a:srgbClr val="2563EB"/>
                </a:solidFill>
                <a:latin typeface="Consolas" pitchFamily="34" charset="0"/>
                <a:ea typeface="Consolas" pitchFamily="34" charset="-122"/>
                <a:cs typeface="Consolas" pitchFamily="34" charset="-120"/>
              </a:rPr>
              <a:t>index()</a:t>
            </a:r>
            <a:endParaRPr lang="en-US" sz="1300" dirty="0"/>
          </a:p>
        </p:txBody>
      </p:sp>
      <p:sp>
        <p:nvSpPr>
          <p:cNvPr id="35" name="Text 33"/>
          <p:cNvSpPr/>
          <p:nvPr/>
        </p:nvSpPr>
        <p:spPr>
          <a:xfrm>
            <a:off x="3291840" y="3794760"/>
            <a:ext cx="2423160" cy="548640"/>
          </a:xfrm>
          <a:prstGeom prst="rect">
            <a:avLst/>
          </a:prstGeom>
          <a:noFill/>
          <a:ln/>
        </p:spPr>
        <p:txBody>
          <a:bodyPr wrap="square" rtlCol="0" anchor="ctr"/>
          <a:lstStyle/>
          <a:p>
            <a:pPr indent="0" marL="0">
              <a:buNone/>
            </a:pPr>
            <a:r>
              <a:rPr lang="en-US" sz="1200" dirty="0">
                <a:solidFill>
                  <a:srgbClr val="1E293B"/>
                </a:solidFill>
              </a:rPr>
              <a:t>Find position of item</a:t>
            </a:r>
            <a:endParaRPr lang="en-US" sz="1200" dirty="0"/>
          </a:p>
        </p:txBody>
      </p:sp>
      <p:sp>
        <p:nvSpPr>
          <p:cNvPr id="36" name="Shape 34"/>
          <p:cNvSpPr/>
          <p:nvPr/>
        </p:nvSpPr>
        <p:spPr>
          <a:xfrm>
            <a:off x="6035040" y="338328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37" name="Shape 35"/>
          <p:cNvSpPr/>
          <p:nvPr/>
        </p:nvSpPr>
        <p:spPr>
          <a:xfrm>
            <a:off x="6035040" y="3383280"/>
            <a:ext cx="2606040" cy="347472"/>
          </a:xfrm>
          <a:prstGeom prst="rect">
            <a:avLst/>
          </a:prstGeom>
          <a:solidFill>
            <a:srgbClr val="DBEAFE"/>
          </a:solidFill>
          <a:ln w="12700">
            <a:solidFill>
              <a:srgbClr val="DBEAFE"/>
            </a:solidFill>
            <a:prstDash val="solid"/>
          </a:ln>
        </p:spPr>
      </p:sp>
      <p:sp>
        <p:nvSpPr>
          <p:cNvPr id="38" name="Text 36"/>
          <p:cNvSpPr/>
          <p:nvPr/>
        </p:nvSpPr>
        <p:spPr>
          <a:xfrm>
            <a:off x="6126480" y="3419856"/>
            <a:ext cx="2423160" cy="274320"/>
          </a:xfrm>
          <a:prstGeom prst="rect">
            <a:avLst/>
          </a:prstGeom>
          <a:noFill/>
          <a:ln/>
        </p:spPr>
        <p:txBody>
          <a:bodyPr wrap="square" rtlCol="0" anchor="ctr"/>
          <a:lstStyle/>
          <a:p>
            <a:pPr indent="0" marL="0">
              <a:buNone/>
            </a:pPr>
            <a:r>
              <a:rPr lang="en-US" sz="1300" b="1" dirty="0">
                <a:solidFill>
                  <a:srgbClr val="2563EB"/>
                </a:solidFill>
                <a:latin typeface="Consolas" pitchFamily="34" charset="0"/>
                <a:ea typeface="Consolas" pitchFamily="34" charset="-122"/>
                <a:cs typeface="Consolas" pitchFamily="34" charset="-120"/>
              </a:rPr>
              <a:t>clear()</a:t>
            </a:r>
            <a:endParaRPr lang="en-US" sz="1300" dirty="0"/>
          </a:p>
        </p:txBody>
      </p:sp>
      <p:sp>
        <p:nvSpPr>
          <p:cNvPr id="39" name="Text 37"/>
          <p:cNvSpPr/>
          <p:nvPr/>
        </p:nvSpPr>
        <p:spPr>
          <a:xfrm>
            <a:off x="6126480" y="3794760"/>
            <a:ext cx="2423160" cy="548640"/>
          </a:xfrm>
          <a:prstGeom prst="rect">
            <a:avLst/>
          </a:prstGeom>
          <a:noFill/>
          <a:ln/>
        </p:spPr>
        <p:txBody>
          <a:bodyPr wrap="square" rtlCol="0" anchor="ctr"/>
          <a:lstStyle/>
          <a:p>
            <a:pPr indent="0" marL="0">
              <a:buNone/>
            </a:pPr>
            <a:r>
              <a:rPr lang="en-US" sz="1200" dirty="0">
                <a:solidFill>
                  <a:srgbClr val="1E293B"/>
                </a:solidFill>
              </a:rPr>
              <a:t>Remove all items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563EB"/>
          </a:solidFill>
          <a:ln w="12700">
            <a:solidFill>
              <a:srgbClr val="2563EB"/>
            </a:solidFill>
            <a:prstDash val="solid"/>
          </a:ln>
        </p:spPr>
      </p:sp>
      <p:sp>
        <p:nvSpPr>
          <p:cNvPr id="3" name="Text 1"/>
          <p:cNvSpPr/>
          <p:nvPr/>
        </p:nvSpPr>
        <p:spPr>
          <a:xfrm>
            <a:off x="457200" y="91440"/>
            <a:ext cx="8229600" cy="594360"/>
          </a:xfrm>
          <a:prstGeom prst="rect">
            <a:avLst/>
          </a:prstGeom>
          <a:noFill/>
          <a:ln/>
        </p:spPr>
        <p:txBody>
          <a:bodyPr wrap="square" rtlCol="0" anchor="ctr"/>
          <a:lstStyle/>
          <a:p>
            <a:pPr indent="0" marL="0">
              <a:buNone/>
            </a:pPr>
            <a:r>
              <a:rPr lang="en-US" sz="2600" b="1" dirty="0">
                <a:solidFill>
                  <a:srgbClr val="FFFFFF"/>
                </a:solidFill>
              </a:rPr>
              <a:t>List — Strengths &amp; Weaknesses</a:t>
            </a:r>
            <a:endParaRPr lang="en-US" sz="2600" dirty="0"/>
          </a:p>
        </p:txBody>
      </p:sp>
      <p:sp>
        <p:nvSpPr>
          <p:cNvPr id="4" name="Shape 2"/>
          <p:cNvSpPr/>
          <p:nvPr/>
        </p:nvSpPr>
        <p:spPr>
          <a:xfrm>
            <a:off x="365760" y="914400"/>
            <a:ext cx="3931920" cy="3291840"/>
          </a:xfrm>
          <a:prstGeom prst="rect">
            <a:avLst/>
          </a:prstGeom>
          <a:solidFill>
            <a:srgbClr val="FFFFFF"/>
          </a:solidFill>
          <a:ln w="12700">
            <a:solidFill>
              <a:srgbClr val="E2E8F0"/>
            </a:solidFill>
            <a:prstDash val="solid"/>
          </a:ln>
        </p:spPr>
      </p:sp>
      <p:sp>
        <p:nvSpPr>
          <p:cNvPr id="5" name="Shape 3"/>
          <p:cNvSpPr/>
          <p:nvPr/>
        </p:nvSpPr>
        <p:spPr>
          <a:xfrm>
            <a:off x="365760" y="914400"/>
            <a:ext cx="3931920" cy="457200"/>
          </a:xfrm>
          <a:prstGeom prst="rect">
            <a:avLst/>
          </a:prstGeom>
          <a:solidFill>
            <a:srgbClr val="D1FAE5"/>
          </a:solidFill>
          <a:ln w="12700">
            <a:solidFill>
              <a:srgbClr val="D1FAE5"/>
            </a:solidFill>
            <a:prstDash val="solid"/>
          </a:ln>
        </p:spPr>
      </p:sp>
      <p:sp>
        <p:nvSpPr>
          <p:cNvPr id="6" name="Text 4"/>
          <p:cNvSpPr/>
          <p:nvPr/>
        </p:nvSpPr>
        <p:spPr>
          <a:xfrm>
            <a:off x="502920" y="960120"/>
            <a:ext cx="3657600" cy="365760"/>
          </a:xfrm>
          <a:prstGeom prst="rect">
            <a:avLst/>
          </a:prstGeom>
          <a:noFill/>
          <a:ln/>
        </p:spPr>
        <p:txBody>
          <a:bodyPr wrap="square" rtlCol="0" anchor="ctr"/>
          <a:lstStyle/>
          <a:p>
            <a:pPr indent="0" marL="0">
              <a:buNone/>
            </a:pPr>
            <a:r>
              <a:rPr lang="en-US" sz="1400" b="1" dirty="0">
                <a:solidFill>
                  <a:srgbClr val="059669"/>
                </a:solidFill>
              </a:rPr>
              <a:t>✅  Strengths</a:t>
            </a:r>
            <a:endParaRPr lang="en-US" sz="1400" dirty="0"/>
          </a:p>
        </p:txBody>
      </p:sp>
      <p:sp>
        <p:nvSpPr>
          <p:cNvPr id="7" name="Text 5"/>
          <p:cNvSpPr/>
          <p:nvPr/>
        </p:nvSpPr>
        <p:spPr>
          <a:xfrm>
            <a:off x="502920" y="1463040"/>
            <a:ext cx="3611880" cy="2560320"/>
          </a:xfrm>
          <a:prstGeom prst="rect">
            <a:avLst/>
          </a:prstGeom>
          <a:noFill/>
          <a:ln/>
        </p:spPr>
        <p:txBody>
          <a:bodyPr wrap="square" rtlCol="0" anchor="ctr"/>
          <a:lstStyle/>
          <a:p>
            <a:pPr marL="342900" indent="-342900">
              <a:buSzPct val="100000"/>
              <a:buChar char="•"/>
            </a:pPr>
            <a:r>
              <a:rPr lang="en-US" sz="1300" dirty="0">
                <a:solidFill>
                  <a:srgbClr val="1E293B"/>
                </a:solidFill>
              </a:rPr>
              <a:t>Easy to use and flexible</a:t>
            </a:r>
            <a:endParaRPr lang="en-US" sz="1300" dirty="0"/>
          </a:p>
          <a:p>
            <a:pPr marL="342900" indent="-342900">
              <a:buSzPct val="100000"/>
              <a:buChar char="•"/>
            </a:pPr>
            <a:r>
              <a:rPr lang="en-US" sz="1300" dirty="0">
                <a:solidFill>
                  <a:srgbClr val="1E293B"/>
                </a:solidFill>
              </a:rPr>
              <a:t>Add, edit, delete anytime</a:t>
            </a:r>
            <a:endParaRPr lang="en-US" sz="1300" dirty="0"/>
          </a:p>
          <a:p>
            <a:pPr marL="342900" indent="-342900">
              <a:buSzPct val="100000"/>
              <a:buChar char="•"/>
            </a:pPr>
            <a:r>
              <a:rPr lang="en-US" sz="1300" dirty="0">
                <a:solidFill>
                  <a:srgbClr val="1E293B"/>
                </a:solidFill>
              </a:rPr>
              <a:t>Keeps insertion order</a:t>
            </a:r>
            <a:endParaRPr lang="en-US" sz="1300" dirty="0"/>
          </a:p>
          <a:p>
            <a:pPr marL="342900" indent="-342900">
              <a:buSzPct val="100000"/>
              <a:buChar char="•"/>
            </a:pPr>
            <a:r>
              <a:rPr lang="en-US" sz="1300" dirty="0">
                <a:solidFill>
                  <a:srgbClr val="1E293B"/>
                </a:solidFill>
              </a:rPr>
              <a:t>Great for student lists, carts, scores</a:t>
            </a:r>
            <a:endParaRPr lang="en-US" sz="1300" dirty="0"/>
          </a:p>
        </p:txBody>
      </p:sp>
      <p:sp>
        <p:nvSpPr>
          <p:cNvPr id="8" name="Shape 6"/>
          <p:cNvSpPr/>
          <p:nvPr/>
        </p:nvSpPr>
        <p:spPr>
          <a:xfrm>
            <a:off x="4846320" y="914400"/>
            <a:ext cx="3931920" cy="3291840"/>
          </a:xfrm>
          <a:prstGeom prst="rect">
            <a:avLst/>
          </a:prstGeom>
          <a:solidFill>
            <a:srgbClr val="FFFFFF"/>
          </a:solidFill>
          <a:ln w="12700">
            <a:solidFill>
              <a:srgbClr val="E2E8F0"/>
            </a:solidFill>
            <a:prstDash val="solid"/>
          </a:ln>
        </p:spPr>
      </p:sp>
      <p:sp>
        <p:nvSpPr>
          <p:cNvPr id="9" name="Shape 7"/>
          <p:cNvSpPr/>
          <p:nvPr/>
        </p:nvSpPr>
        <p:spPr>
          <a:xfrm>
            <a:off x="4846320" y="914400"/>
            <a:ext cx="3931920" cy="457200"/>
          </a:xfrm>
          <a:prstGeom prst="rect">
            <a:avLst/>
          </a:prstGeom>
          <a:solidFill>
            <a:srgbClr val="FEE2E2"/>
          </a:solidFill>
          <a:ln w="12700">
            <a:solidFill>
              <a:srgbClr val="FEE2E2"/>
            </a:solidFill>
            <a:prstDash val="solid"/>
          </a:ln>
        </p:spPr>
      </p:sp>
      <p:sp>
        <p:nvSpPr>
          <p:cNvPr id="10" name="Text 8"/>
          <p:cNvSpPr/>
          <p:nvPr/>
        </p:nvSpPr>
        <p:spPr>
          <a:xfrm>
            <a:off x="4983480" y="960120"/>
            <a:ext cx="3657600" cy="365760"/>
          </a:xfrm>
          <a:prstGeom prst="rect">
            <a:avLst/>
          </a:prstGeom>
          <a:noFill/>
          <a:ln/>
        </p:spPr>
        <p:txBody>
          <a:bodyPr wrap="square" rtlCol="0" anchor="ctr"/>
          <a:lstStyle/>
          <a:p>
            <a:pPr indent="0" marL="0">
              <a:buNone/>
            </a:pPr>
            <a:r>
              <a:rPr lang="en-US" sz="1400" b="1" dirty="0">
                <a:solidFill>
                  <a:srgbClr val="B91C1C"/>
                </a:solidFill>
              </a:rPr>
              <a:t>⚠️  Weaknesses</a:t>
            </a:r>
            <a:endParaRPr lang="en-US" sz="1400" dirty="0"/>
          </a:p>
        </p:txBody>
      </p:sp>
      <p:sp>
        <p:nvSpPr>
          <p:cNvPr id="11" name="Text 9"/>
          <p:cNvSpPr/>
          <p:nvPr/>
        </p:nvSpPr>
        <p:spPr>
          <a:xfrm>
            <a:off x="4983480" y="1463040"/>
            <a:ext cx="3611880" cy="2560320"/>
          </a:xfrm>
          <a:prstGeom prst="rect">
            <a:avLst/>
          </a:prstGeom>
          <a:noFill/>
          <a:ln/>
        </p:spPr>
        <p:txBody>
          <a:bodyPr wrap="square" rtlCol="0" anchor="ctr"/>
          <a:lstStyle/>
          <a:p>
            <a:pPr marL="342900" indent="-342900">
              <a:buSzPct val="100000"/>
              <a:buChar char="•"/>
            </a:pPr>
            <a:r>
              <a:rPr lang="en-US" sz="1300" dirty="0">
                <a:solidFill>
                  <a:srgbClr val="1E293B"/>
                </a:solidFill>
              </a:rPr>
              <a:t>Allows duplicates — must check manually for unique data</a:t>
            </a:r>
            <a:endParaRPr lang="en-US" sz="1300" dirty="0"/>
          </a:p>
          <a:p>
            <a:pPr marL="342900" indent="-342900">
              <a:buSzPct val="100000"/>
              <a:buChar char="•"/>
            </a:pPr>
            <a:r>
              <a:rPr lang="en-US" sz="1300" dirty="0">
                <a:solidFill>
                  <a:srgbClr val="1E293B"/>
                </a:solidFill>
              </a:rPr>
              <a:t>Searching can be slow on large data</a:t>
            </a:r>
            <a:endParaRPr lang="en-US" sz="1300" dirty="0"/>
          </a:p>
          <a:p>
            <a:pPr marL="342900" indent="-342900">
              <a:buSzPct val="100000"/>
              <a:buChar char="•"/>
            </a:pPr>
            <a:r>
              <a:rPr lang="en-US" sz="1300" dirty="0">
                <a:solidFill>
                  <a:srgbClr val="1E293B"/>
                </a:solidFill>
              </a:rPr>
              <a:t>Easy to accidentally change values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891B2"/>
          </a:solidFill>
          <a:ln w="12700">
            <a:solidFill>
              <a:srgbClr val="0891B2"/>
            </a:solidFill>
            <a:prstDash val="solid"/>
          </a:ln>
        </p:spPr>
      </p:sp>
      <p:pic>
        <p:nvPicPr>
          <p:cNvPr id="3" name="Image 0" descr="preencoded.png">    </p:cNvPr>
          <p:cNvPicPr>
            <a:picLocks noChangeAspect="1"/>
          </p:cNvPicPr>
          <p:nvPr/>
        </p:nvPicPr>
        <p:blipFill>
          <a:blip r:embed="rId1"/>
          <a:stretch>
            <a:fillRect/>
          </a:stretch>
        </p:blipFill>
        <p:spPr>
          <a:xfrm>
            <a:off x="320040" y="164592"/>
            <a:ext cx="548640" cy="548640"/>
          </a:xfrm>
          <a:prstGeom prst="rect">
            <a:avLst/>
          </a:prstGeom>
        </p:spPr>
      </p:pic>
      <p:sp>
        <p:nvSpPr>
          <p:cNvPr id="4" name="Text 1"/>
          <p:cNvSpPr/>
          <p:nvPr/>
        </p:nvSpPr>
        <p:spPr>
          <a:xfrm>
            <a:off x="1005840" y="137160"/>
            <a:ext cx="7772400" cy="640080"/>
          </a:xfrm>
          <a:prstGeom prst="rect">
            <a:avLst/>
          </a:prstGeom>
          <a:noFill/>
          <a:ln/>
        </p:spPr>
        <p:txBody>
          <a:bodyPr wrap="square" rtlCol="0" anchor="ctr"/>
          <a:lstStyle/>
          <a:p>
            <a:pPr indent="0" marL="0">
              <a:buNone/>
            </a:pPr>
            <a:r>
              <a:rPr lang="en-US" sz="2600" b="1" dirty="0">
                <a:solidFill>
                  <a:srgbClr val="FFFFFF"/>
                </a:solidFill>
              </a:rPr>
              <a:t>Tuple — Fixed, Immutable Collection</a:t>
            </a:r>
            <a:endParaRPr lang="en-US" sz="2600" dirty="0"/>
          </a:p>
        </p:txBody>
      </p:sp>
      <p:sp>
        <p:nvSpPr>
          <p:cNvPr id="5" name="Text 2"/>
          <p:cNvSpPr/>
          <p:nvPr/>
        </p:nvSpPr>
        <p:spPr>
          <a:xfrm>
            <a:off x="457200" y="1051560"/>
            <a:ext cx="8229600" cy="502920"/>
          </a:xfrm>
          <a:prstGeom prst="rect">
            <a:avLst/>
          </a:prstGeom>
          <a:noFill/>
          <a:ln/>
        </p:spPr>
        <p:txBody>
          <a:bodyPr wrap="square" rtlCol="0" anchor="ctr"/>
          <a:lstStyle/>
          <a:p>
            <a:pPr indent="0" marL="0">
              <a:buNone/>
            </a:pPr>
            <a:r>
              <a:rPr lang="en-US" sz="1500" dirty="0">
                <a:solidFill>
                  <a:srgbClr val="64748B"/>
                </a:solidFill>
              </a:rPr>
              <a:t>A Tuple is like a List — but once created, it cannot be changed.</a:t>
            </a:r>
            <a:endParaRPr lang="en-US" sz="1500" dirty="0"/>
          </a:p>
        </p:txBody>
      </p:sp>
      <p:sp>
        <p:nvSpPr>
          <p:cNvPr id="6" name="Shape 3"/>
          <p:cNvSpPr/>
          <p:nvPr/>
        </p:nvSpPr>
        <p:spPr>
          <a:xfrm>
            <a:off x="457200" y="1600200"/>
            <a:ext cx="5303520" cy="1463040"/>
          </a:xfrm>
          <a:prstGeom prst="rect">
            <a:avLst>
              <a:gd name="adj" fmla="val 5000"/>
            </a:avLst>
          </a:prstGeom>
          <a:solidFill>
            <a:srgbClr val="1E293B"/>
          </a:solidFill>
          <a:ln w="12700">
            <a:solidFill>
              <a:srgbClr val="1E293B"/>
            </a:solidFill>
            <a:prstDash val="solid"/>
          </a:ln>
        </p:spPr>
      </p:sp>
      <p:sp>
        <p:nvSpPr>
          <p:cNvPr id="7" name="Text 4"/>
          <p:cNvSpPr/>
          <p:nvPr/>
        </p:nvSpPr>
        <p:spPr>
          <a:xfrm>
            <a:off x="640080" y="1691640"/>
            <a:ext cx="4937760" cy="1188720"/>
          </a:xfrm>
          <a:prstGeom prst="rect">
            <a:avLst/>
          </a:prstGeom>
          <a:noFill/>
          <a:ln/>
        </p:spPr>
        <p:txBody>
          <a:bodyPr wrap="square" rtlCol="0" anchor="ctr"/>
          <a:lstStyle/>
          <a:p>
            <a:pPr indent="0" marL="0">
              <a:buNone/>
            </a:pPr>
            <a:r>
              <a:rPr lang="en-US" sz="1200" dirty="0">
                <a:solidFill>
                  <a:srgbClr val="6B7280"/>
                </a:solidFill>
                <a:latin typeface="Consolas" pitchFamily="34" charset="0"/>
                <a:ea typeface="Consolas" pitchFamily="34" charset="-122"/>
                <a:cs typeface="Consolas" pitchFamily="34" charset="-120"/>
              </a:rPr>
              <a:t># Student record (fixed data)</a:t>
            </a:r>
            <a:endParaRPr lang="en-US" sz="1200" dirty="0"/>
          </a:p>
          <a:p>
            <a:pPr indent="0" marL="0">
              <a:buNone/>
            </a:pPr>
            <a:r>
              <a:rPr lang="en-US" sz="1200" dirty="0">
                <a:solidFill>
                  <a:srgbClr val="93C5FD"/>
                </a:solidFill>
                <a:latin typeface="Consolas" pitchFamily="34" charset="0"/>
                <a:ea typeface="Consolas" pitchFamily="34" charset="-122"/>
                <a:cs typeface="Consolas" pitchFamily="34" charset="-120"/>
              </a:rPr>
              <a:t>student_info </a:t>
            </a:r>
            <a:pPr indent="0" marL="0">
              <a:buNone/>
            </a:pPr>
            <a:r>
              <a:rPr lang="en-US" sz="1200" dirty="0">
                <a:solidFill>
                  <a:srgbClr val="E5E7EB"/>
                </a:solidFill>
                <a:latin typeface="Consolas" pitchFamily="34" charset="0"/>
                <a:ea typeface="Consolas" pitchFamily="34" charset="-122"/>
                <a:cs typeface="Consolas" pitchFamily="34" charset="-120"/>
              </a:rPr>
              <a:t>= </a:t>
            </a:r>
            <a:pPr indent="0" marL="0">
              <a:buNone/>
            </a:pPr>
            <a:r>
              <a:rPr lang="en-US" sz="1200" dirty="0">
                <a:solidFill>
                  <a:srgbClr val="FCA5A5"/>
                </a:solidFill>
                <a:latin typeface="Consolas" pitchFamily="34" charset="0"/>
                <a:ea typeface="Consolas" pitchFamily="34" charset="-122"/>
                <a:cs typeface="Consolas" pitchFamily="34" charset="-120"/>
              </a:rPr>
              <a:t>("SE190722", "Thuận", "FPT University")</a:t>
            </a:r>
            <a:endParaRPr lang="en-US" sz="1200" dirty="0"/>
          </a:p>
        </p:txBody>
      </p:sp>
      <p:sp>
        <p:nvSpPr>
          <p:cNvPr id="8" name="Text 5"/>
          <p:cNvSpPr/>
          <p:nvPr/>
        </p:nvSpPr>
        <p:spPr>
          <a:xfrm>
            <a:off x="5943600" y="1600200"/>
            <a:ext cx="2926080" cy="2011680"/>
          </a:xfrm>
          <a:prstGeom prst="rect">
            <a:avLst/>
          </a:prstGeom>
          <a:noFill/>
          <a:ln/>
        </p:spPr>
        <p:txBody>
          <a:bodyPr wrap="square" rtlCol="0" anchor="ctr"/>
          <a:lstStyle/>
          <a:p>
            <a:pPr marL="342900" indent="-342900">
              <a:buSzPct val="100000"/>
              <a:buChar char="•"/>
            </a:pPr>
            <a:r>
              <a:rPr lang="en-US" sz="1300" dirty="0">
                <a:solidFill>
                  <a:srgbClr val="1E293B"/>
                </a:solidFill>
              </a:rPr>
              <a:t>Ordered — same order always</a:t>
            </a:r>
            <a:endParaRPr lang="en-US" sz="1300" dirty="0"/>
          </a:p>
          <a:p>
            <a:pPr marL="342900" indent="-342900">
              <a:buSzPct val="100000"/>
              <a:buChar char="•"/>
            </a:pPr>
            <a:r>
              <a:rPr lang="en-US" sz="1300" dirty="0">
                <a:solidFill>
                  <a:srgbClr val="1E293B"/>
                </a:solidFill>
              </a:rPr>
              <a:t>Allows duplicate values</a:t>
            </a:r>
            <a:endParaRPr lang="en-US" sz="1300" dirty="0"/>
          </a:p>
          <a:p>
            <a:pPr marL="342900" indent="-342900">
              <a:buSzPct val="100000"/>
              <a:buChar char="•"/>
            </a:pPr>
            <a:r>
              <a:rPr lang="en-US" sz="1300" dirty="0">
                <a:solidFill>
                  <a:srgbClr val="1E293B"/>
                </a:solidFill>
              </a:rPr>
              <a:t>Immutable — cannot be changed</a:t>
            </a:r>
            <a:endParaRPr lang="en-US" sz="1300" dirty="0"/>
          </a:p>
          <a:p>
            <a:pPr marL="342900" indent="-342900">
              <a:buSzPct val="100000"/>
              <a:buChar char="•"/>
            </a:pPr>
            <a:r>
              <a:rPr lang="en-US" sz="1300" dirty="0">
                <a:solidFill>
                  <a:srgbClr val="1E293B"/>
                </a:solidFill>
              </a:rPr>
              <a:t>Access by index (starts at 0)</a:t>
            </a:r>
            <a:endParaRPr lang="en-US" sz="1300" dirty="0"/>
          </a:p>
        </p:txBody>
      </p:sp>
      <p:sp>
        <p:nvSpPr>
          <p:cNvPr id="9" name="Shape 6"/>
          <p:cNvSpPr/>
          <p:nvPr/>
        </p:nvSpPr>
        <p:spPr>
          <a:xfrm>
            <a:off x="457200" y="3200400"/>
            <a:ext cx="8229600" cy="777240"/>
          </a:xfrm>
          <a:prstGeom prst="rect">
            <a:avLst/>
          </a:prstGeom>
          <a:solidFill>
            <a:srgbClr val="CFFAFE"/>
          </a:solidFill>
          <a:ln w="12700">
            <a:solidFill>
              <a:srgbClr val="0891B2"/>
            </a:solidFill>
            <a:prstDash val="solid"/>
          </a:ln>
        </p:spPr>
      </p:sp>
      <p:sp>
        <p:nvSpPr>
          <p:cNvPr id="10" name="Text 7"/>
          <p:cNvSpPr/>
          <p:nvPr/>
        </p:nvSpPr>
        <p:spPr>
          <a:xfrm>
            <a:off x="594360" y="3264408"/>
            <a:ext cx="7955280" cy="640080"/>
          </a:xfrm>
          <a:prstGeom prst="rect">
            <a:avLst/>
          </a:prstGeom>
          <a:noFill/>
          <a:ln/>
        </p:spPr>
        <p:txBody>
          <a:bodyPr wrap="square" rtlCol="0" anchor="ctr"/>
          <a:lstStyle/>
          <a:p>
            <a:pPr indent="0" marL="0">
              <a:buNone/>
            </a:pPr>
            <a:r>
              <a:rPr lang="en-US" sz="1300" dirty="0">
                <a:solidFill>
                  <a:srgbClr val="134E4A"/>
                </a:solidFill>
              </a:rPr>
              <a:t>🔒  Best for: Student IDs, coordinates, config data — anything that must stay constant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891B2"/>
          </a:solidFill>
          <a:ln w="12700">
            <a:solidFill>
              <a:srgbClr val="0891B2"/>
            </a:solidFill>
            <a:prstDash val="solid"/>
          </a:ln>
        </p:spPr>
      </p:sp>
      <p:sp>
        <p:nvSpPr>
          <p:cNvPr id="3" name="Text 1"/>
          <p:cNvSpPr/>
          <p:nvPr/>
        </p:nvSpPr>
        <p:spPr>
          <a:xfrm>
            <a:off x="457200" y="91440"/>
            <a:ext cx="8229600" cy="594360"/>
          </a:xfrm>
          <a:prstGeom prst="rect">
            <a:avLst/>
          </a:prstGeom>
          <a:noFill/>
          <a:ln/>
        </p:spPr>
        <p:txBody>
          <a:bodyPr wrap="square" rtlCol="0" anchor="ctr"/>
          <a:lstStyle/>
          <a:p>
            <a:pPr indent="0" marL="0">
              <a:buNone/>
            </a:pPr>
            <a:r>
              <a:rPr lang="en-US" sz="2600" b="1" dirty="0">
                <a:solidFill>
                  <a:srgbClr val="FFFFFF"/>
                </a:solidFill>
              </a:rPr>
              <a:t>Tuple — Features &amp; Methods</a:t>
            </a:r>
            <a:endParaRPr lang="en-US" sz="2600" dirty="0"/>
          </a:p>
        </p:txBody>
      </p:sp>
      <p:sp>
        <p:nvSpPr>
          <p:cNvPr id="4" name="Shape 2"/>
          <p:cNvSpPr/>
          <p:nvPr/>
        </p:nvSpPr>
        <p:spPr>
          <a:xfrm>
            <a:off x="365760" y="914400"/>
            <a:ext cx="64008" cy="411480"/>
          </a:xfrm>
          <a:prstGeom prst="rect">
            <a:avLst/>
          </a:prstGeom>
          <a:solidFill>
            <a:srgbClr val="0891B2"/>
          </a:solidFill>
          <a:ln w="12700">
            <a:solidFill>
              <a:srgbClr val="0891B2"/>
            </a:solidFill>
            <a:prstDash val="solid"/>
          </a:ln>
        </p:spPr>
      </p:sp>
      <p:sp>
        <p:nvSpPr>
          <p:cNvPr id="5" name="Text 3"/>
          <p:cNvSpPr/>
          <p:nvPr/>
        </p:nvSpPr>
        <p:spPr>
          <a:xfrm>
            <a:off x="502920" y="914400"/>
            <a:ext cx="3886200" cy="411480"/>
          </a:xfrm>
          <a:prstGeom prst="rect">
            <a:avLst/>
          </a:prstGeom>
          <a:noFill/>
          <a:ln/>
        </p:spPr>
        <p:txBody>
          <a:bodyPr wrap="square" lIns="0" tIns="0" rIns="0" bIns="0" rtlCol="0" anchor="ctr"/>
          <a:lstStyle/>
          <a:p>
            <a:pPr indent="0" marL="0">
              <a:buNone/>
            </a:pPr>
            <a:r>
              <a:rPr lang="en-US" sz="1800" b="1" dirty="0">
                <a:solidFill>
                  <a:srgbClr val="1E293B"/>
                </a:solidFill>
              </a:rPr>
              <a:t>Tuple Methods (only 2!)</a:t>
            </a:r>
            <a:endParaRPr lang="en-US" sz="1800" dirty="0"/>
          </a:p>
        </p:txBody>
      </p:sp>
      <p:sp>
        <p:nvSpPr>
          <p:cNvPr id="6" name="Shape 4"/>
          <p:cNvSpPr/>
          <p:nvPr/>
        </p:nvSpPr>
        <p:spPr>
          <a:xfrm>
            <a:off x="365760" y="1463040"/>
            <a:ext cx="3931920" cy="100584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7" name="Shape 5"/>
          <p:cNvSpPr/>
          <p:nvPr/>
        </p:nvSpPr>
        <p:spPr>
          <a:xfrm>
            <a:off x="365760" y="1463040"/>
            <a:ext cx="3931920" cy="320040"/>
          </a:xfrm>
          <a:prstGeom prst="rect">
            <a:avLst/>
          </a:prstGeom>
          <a:solidFill>
            <a:srgbClr val="CFFAFE"/>
          </a:solidFill>
          <a:ln w="12700">
            <a:solidFill>
              <a:srgbClr val="CFFAFE"/>
            </a:solidFill>
            <a:prstDash val="solid"/>
          </a:ln>
        </p:spPr>
      </p:sp>
      <p:sp>
        <p:nvSpPr>
          <p:cNvPr id="8" name="Text 6"/>
          <p:cNvSpPr/>
          <p:nvPr/>
        </p:nvSpPr>
        <p:spPr>
          <a:xfrm>
            <a:off x="502920" y="1490472"/>
            <a:ext cx="3657600" cy="256032"/>
          </a:xfrm>
          <a:prstGeom prst="rect">
            <a:avLst/>
          </a:prstGeom>
          <a:noFill/>
          <a:ln/>
        </p:spPr>
        <p:txBody>
          <a:bodyPr wrap="square" rtlCol="0" anchor="ctr"/>
          <a:lstStyle/>
          <a:p>
            <a:pPr indent="0" marL="0">
              <a:buNone/>
            </a:pPr>
            <a:r>
              <a:rPr lang="en-US" sz="1300" b="1" dirty="0">
                <a:solidFill>
                  <a:srgbClr val="0891B2"/>
                </a:solidFill>
                <a:latin typeface="Consolas" pitchFamily="34" charset="0"/>
                <a:ea typeface="Consolas" pitchFamily="34" charset="-122"/>
                <a:cs typeface="Consolas" pitchFamily="34" charset="-120"/>
              </a:rPr>
              <a:t>count()</a:t>
            </a:r>
            <a:endParaRPr lang="en-US" sz="1300" dirty="0"/>
          </a:p>
        </p:txBody>
      </p:sp>
      <p:sp>
        <p:nvSpPr>
          <p:cNvPr id="9" name="Text 7"/>
          <p:cNvSpPr/>
          <p:nvPr/>
        </p:nvSpPr>
        <p:spPr>
          <a:xfrm>
            <a:off x="502920" y="1847088"/>
            <a:ext cx="3657600" cy="502920"/>
          </a:xfrm>
          <a:prstGeom prst="rect">
            <a:avLst/>
          </a:prstGeom>
          <a:noFill/>
          <a:ln/>
        </p:spPr>
        <p:txBody>
          <a:bodyPr wrap="square" rtlCol="0" anchor="ctr"/>
          <a:lstStyle/>
          <a:p>
            <a:pPr indent="0" marL="0">
              <a:buNone/>
            </a:pPr>
            <a:r>
              <a:rPr lang="en-US" sz="1200" dirty="0">
                <a:solidFill>
                  <a:srgbClr val="1E293B"/>
                </a:solidFill>
              </a:rPr>
              <a:t>Count how many times a value appears</a:t>
            </a:r>
            <a:endParaRPr lang="en-US" sz="1200" dirty="0"/>
          </a:p>
        </p:txBody>
      </p:sp>
      <p:sp>
        <p:nvSpPr>
          <p:cNvPr id="10" name="Shape 8"/>
          <p:cNvSpPr/>
          <p:nvPr/>
        </p:nvSpPr>
        <p:spPr>
          <a:xfrm>
            <a:off x="365760" y="2651760"/>
            <a:ext cx="3931920" cy="100584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11" name="Shape 9"/>
          <p:cNvSpPr/>
          <p:nvPr/>
        </p:nvSpPr>
        <p:spPr>
          <a:xfrm>
            <a:off x="365760" y="2651760"/>
            <a:ext cx="3931920" cy="320040"/>
          </a:xfrm>
          <a:prstGeom prst="rect">
            <a:avLst/>
          </a:prstGeom>
          <a:solidFill>
            <a:srgbClr val="CFFAFE"/>
          </a:solidFill>
          <a:ln w="12700">
            <a:solidFill>
              <a:srgbClr val="CFFAFE"/>
            </a:solidFill>
            <a:prstDash val="solid"/>
          </a:ln>
        </p:spPr>
      </p:sp>
      <p:sp>
        <p:nvSpPr>
          <p:cNvPr id="12" name="Text 10"/>
          <p:cNvSpPr/>
          <p:nvPr/>
        </p:nvSpPr>
        <p:spPr>
          <a:xfrm>
            <a:off x="502920" y="2679192"/>
            <a:ext cx="3657600" cy="256032"/>
          </a:xfrm>
          <a:prstGeom prst="rect">
            <a:avLst/>
          </a:prstGeom>
          <a:noFill/>
          <a:ln/>
        </p:spPr>
        <p:txBody>
          <a:bodyPr wrap="square" rtlCol="0" anchor="ctr"/>
          <a:lstStyle/>
          <a:p>
            <a:pPr indent="0" marL="0">
              <a:buNone/>
            </a:pPr>
            <a:r>
              <a:rPr lang="en-US" sz="1300" b="1" dirty="0">
                <a:solidFill>
                  <a:srgbClr val="0891B2"/>
                </a:solidFill>
                <a:latin typeface="Consolas" pitchFamily="34" charset="0"/>
                <a:ea typeface="Consolas" pitchFamily="34" charset="-122"/>
                <a:cs typeface="Consolas" pitchFamily="34" charset="-120"/>
              </a:rPr>
              <a:t>index()</a:t>
            </a:r>
            <a:endParaRPr lang="en-US" sz="1300" dirty="0"/>
          </a:p>
        </p:txBody>
      </p:sp>
      <p:sp>
        <p:nvSpPr>
          <p:cNvPr id="13" name="Text 11"/>
          <p:cNvSpPr/>
          <p:nvPr/>
        </p:nvSpPr>
        <p:spPr>
          <a:xfrm>
            <a:off x="502920" y="3035808"/>
            <a:ext cx="3657600" cy="502920"/>
          </a:xfrm>
          <a:prstGeom prst="rect">
            <a:avLst/>
          </a:prstGeom>
          <a:noFill/>
          <a:ln/>
        </p:spPr>
        <p:txBody>
          <a:bodyPr wrap="square" rtlCol="0" anchor="ctr"/>
          <a:lstStyle/>
          <a:p>
            <a:pPr indent="0" marL="0">
              <a:buNone/>
            </a:pPr>
            <a:r>
              <a:rPr lang="en-US" sz="1200" dirty="0">
                <a:solidFill>
                  <a:srgbClr val="1E293B"/>
                </a:solidFill>
              </a:rPr>
              <a:t>Find the position of a value</a:t>
            </a:r>
            <a:endParaRPr lang="en-US" sz="1200" dirty="0"/>
          </a:p>
        </p:txBody>
      </p:sp>
      <p:sp>
        <p:nvSpPr>
          <p:cNvPr id="14" name="Shape 12"/>
          <p:cNvSpPr/>
          <p:nvPr/>
        </p:nvSpPr>
        <p:spPr>
          <a:xfrm>
            <a:off x="4846320" y="914400"/>
            <a:ext cx="64008" cy="411480"/>
          </a:xfrm>
          <a:prstGeom prst="rect">
            <a:avLst/>
          </a:prstGeom>
          <a:solidFill>
            <a:srgbClr val="0891B2"/>
          </a:solidFill>
          <a:ln w="12700">
            <a:solidFill>
              <a:srgbClr val="0891B2"/>
            </a:solidFill>
            <a:prstDash val="solid"/>
          </a:ln>
        </p:spPr>
      </p:sp>
      <p:sp>
        <p:nvSpPr>
          <p:cNvPr id="15" name="Text 13"/>
          <p:cNvSpPr/>
          <p:nvPr/>
        </p:nvSpPr>
        <p:spPr>
          <a:xfrm>
            <a:off x="4983480" y="914400"/>
            <a:ext cx="3886200" cy="411480"/>
          </a:xfrm>
          <a:prstGeom prst="rect">
            <a:avLst/>
          </a:prstGeom>
          <a:noFill/>
          <a:ln/>
        </p:spPr>
        <p:txBody>
          <a:bodyPr wrap="square" lIns="0" tIns="0" rIns="0" bIns="0" rtlCol="0" anchor="ctr"/>
          <a:lstStyle/>
          <a:p>
            <a:pPr indent="0" marL="0">
              <a:buNone/>
            </a:pPr>
            <a:r>
              <a:rPr lang="en-US" sz="1800" b="1" dirty="0">
                <a:solidFill>
                  <a:srgbClr val="1E293B"/>
                </a:solidFill>
              </a:rPr>
              <a:t>Built-in Functions for Tuple</a:t>
            </a:r>
            <a:endParaRPr lang="en-US" sz="1800" dirty="0"/>
          </a:p>
        </p:txBody>
      </p:sp>
      <p:sp>
        <p:nvSpPr>
          <p:cNvPr id="16" name="Shape 14"/>
          <p:cNvSpPr/>
          <p:nvPr/>
        </p:nvSpPr>
        <p:spPr>
          <a:xfrm>
            <a:off x="4846320" y="1463040"/>
            <a:ext cx="3931920" cy="713232"/>
          </a:xfrm>
          <a:prstGeom prst="rect">
            <a:avLst/>
          </a:prstGeom>
          <a:solidFill>
            <a:srgbClr val="FFFFFF"/>
          </a:solidFill>
          <a:ln w="12700">
            <a:solidFill>
              <a:srgbClr val="E2E8F0"/>
            </a:solidFill>
            <a:prstDash val="solid"/>
          </a:ln>
        </p:spPr>
      </p:sp>
      <p:sp>
        <p:nvSpPr>
          <p:cNvPr id="17" name="Text 15"/>
          <p:cNvSpPr/>
          <p:nvPr/>
        </p:nvSpPr>
        <p:spPr>
          <a:xfrm>
            <a:off x="4983480" y="1627632"/>
            <a:ext cx="3657600" cy="384048"/>
          </a:xfrm>
          <a:prstGeom prst="rect">
            <a:avLst/>
          </a:prstGeom>
          <a:noFill/>
          <a:ln/>
        </p:spPr>
        <p:txBody>
          <a:bodyPr wrap="square" rtlCol="0" anchor="ctr"/>
          <a:lstStyle/>
          <a:p>
            <a:pPr indent="0" marL="0">
              <a:buNone/>
            </a:pPr>
            <a:r>
              <a:rPr lang="en-US" sz="1250" dirty="0">
                <a:solidFill>
                  <a:srgbClr val="1E293B"/>
                </a:solidFill>
                <a:latin typeface="Consolas" pitchFamily="34" charset="0"/>
                <a:ea typeface="Consolas" pitchFamily="34" charset="-122"/>
                <a:cs typeface="Consolas" pitchFamily="34" charset="-120"/>
              </a:rPr>
              <a:t>len()  —  Count total elements</a:t>
            </a:r>
            <a:endParaRPr lang="en-US" sz="1250" dirty="0"/>
          </a:p>
        </p:txBody>
      </p:sp>
      <p:sp>
        <p:nvSpPr>
          <p:cNvPr id="18" name="Shape 16"/>
          <p:cNvSpPr/>
          <p:nvPr/>
        </p:nvSpPr>
        <p:spPr>
          <a:xfrm>
            <a:off x="4846320" y="2331720"/>
            <a:ext cx="3931920" cy="713232"/>
          </a:xfrm>
          <a:prstGeom prst="rect">
            <a:avLst/>
          </a:prstGeom>
          <a:solidFill>
            <a:srgbClr val="FFFFFF"/>
          </a:solidFill>
          <a:ln w="12700">
            <a:solidFill>
              <a:srgbClr val="E2E8F0"/>
            </a:solidFill>
            <a:prstDash val="solid"/>
          </a:ln>
        </p:spPr>
      </p:sp>
      <p:sp>
        <p:nvSpPr>
          <p:cNvPr id="19" name="Text 17"/>
          <p:cNvSpPr/>
          <p:nvPr/>
        </p:nvSpPr>
        <p:spPr>
          <a:xfrm>
            <a:off x="4983480" y="2496312"/>
            <a:ext cx="3657600" cy="384048"/>
          </a:xfrm>
          <a:prstGeom prst="rect">
            <a:avLst/>
          </a:prstGeom>
          <a:noFill/>
          <a:ln/>
        </p:spPr>
        <p:txBody>
          <a:bodyPr wrap="square" rtlCol="0" anchor="ctr"/>
          <a:lstStyle/>
          <a:p>
            <a:pPr indent="0" marL="0">
              <a:buNone/>
            </a:pPr>
            <a:r>
              <a:rPr lang="en-US" sz="1250" dirty="0">
                <a:solidFill>
                  <a:srgbClr val="1E293B"/>
                </a:solidFill>
                <a:latin typeface="Consolas" pitchFamily="34" charset="0"/>
                <a:ea typeface="Consolas" pitchFamily="34" charset="-122"/>
                <a:cs typeface="Consolas" pitchFamily="34" charset="-120"/>
              </a:rPr>
              <a:t>max()  —  Get largest value</a:t>
            </a:r>
            <a:endParaRPr lang="en-US" sz="1250" dirty="0"/>
          </a:p>
        </p:txBody>
      </p:sp>
      <p:sp>
        <p:nvSpPr>
          <p:cNvPr id="20" name="Shape 18"/>
          <p:cNvSpPr/>
          <p:nvPr/>
        </p:nvSpPr>
        <p:spPr>
          <a:xfrm>
            <a:off x="4846320" y="3200400"/>
            <a:ext cx="3931920" cy="713232"/>
          </a:xfrm>
          <a:prstGeom prst="rect">
            <a:avLst/>
          </a:prstGeom>
          <a:solidFill>
            <a:srgbClr val="FFFFFF"/>
          </a:solidFill>
          <a:ln w="12700">
            <a:solidFill>
              <a:srgbClr val="E2E8F0"/>
            </a:solidFill>
            <a:prstDash val="solid"/>
          </a:ln>
        </p:spPr>
      </p:sp>
      <p:sp>
        <p:nvSpPr>
          <p:cNvPr id="21" name="Text 19"/>
          <p:cNvSpPr/>
          <p:nvPr/>
        </p:nvSpPr>
        <p:spPr>
          <a:xfrm>
            <a:off x="4983480" y="3364992"/>
            <a:ext cx="3657600" cy="384048"/>
          </a:xfrm>
          <a:prstGeom prst="rect">
            <a:avLst/>
          </a:prstGeom>
          <a:noFill/>
          <a:ln/>
        </p:spPr>
        <p:txBody>
          <a:bodyPr wrap="square" rtlCol="0" anchor="ctr"/>
          <a:lstStyle/>
          <a:p>
            <a:pPr indent="0" marL="0">
              <a:buNone/>
            </a:pPr>
            <a:r>
              <a:rPr lang="en-US" sz="1250" dirty="0">
                <a:solidFill>
                  <a:srgbClr val="1E293B"/>
                </a:solidFill>
                <a:latin typeface="Consolas" pitchFamily="34" charset="0"/>
                <a:ea typeface="Consolas" pitchFamily="34" charset="-122"/>
                <a:cs typeface="Consolas" pitchFamily="34" charset="-120"/>
              </a:rPr>
              <a:t>min()  —  Get smallest value</a:t>
            </a:r>
            <a:endParaRPr lang="en-US" sz="1250" dirty="0"/>
          </a:p>
        </p:txBody>
      </p:sp>
      <p:sp>
        <p:nvSpPr>
          <p:cNvPr id="22" name="Shape 20"/>
          <p:cNvSpPr/>
          <p:nvPr/>
        </p:nvSpPr>
        <p:spPr>
          <a:xfrm>
            <a:off x="4846320" y="4069080"/>
            <a:ext cx="3931920" cy="713232"/>
          </a:xfrm>
          <a:prstGeom prst="rect">
            <a:avLst/>
          </a:prstGeom>
          <a:solidFill>
            <a:srgbClr val="FFFFFF"/>
          </a:solidFill>
          <a:ln w="12700">
            <a:solidFill>
              <a:srgbClr val="E2E8F0"/>
            </a:solidFill>
            <a:prstDash val="solid"/>
          </a:ln>
        </p:spPr>
      </p:sp>
      <p:sp>
        <p:nvSpPr>
          <p:cNvPr id="23" name="Text 21"/>
          <p:cNvSpPr/>
          <p:nvPr/>
        </p:nvSpPr>
        <p:spPr>
          <a:xfrm>
            <a:off x="4983480" y="4233672"/>
            <a:ext cx="3657600" cy="384048"/>
          </a:xfrm>
          <a:prstGeom prst="rect">
            <a:avLst/>
          </a:prstGeom>
          <a:noFill/>
          <a:ln/>
        </p:spPr>
        <p:txBody>
          <a:bodyPr wrap="square" rtlCol="0" anchor="ctr"/>
          <a:lstStyle/>
          <a:p>
            <a:pPr indent="0" marL="0">
              <a:buNone/>
            </a:pPr>
            <a:r>
              <a:rPr lang="en-US" sz="1250" dirty="0">
                <a:solidFill>
                  <a:srgbClr val="1E293B"/>
                </a:solidFill>
                <a:latin typeface="Consolas" pitchFamily="34" charset="0"/>
                <a:ea typeface="Consolas" pitchFamily="34" charset="-122"/>
                <a:cs typeface="Consolas" pitchFamily="34" charset="-120"/>
              </a:rPr>
              <a:t>sum()  —  Sum all numbers</a:t>
            </a:r>
            <a:endParaRPr lang="en-US" sz="1250" dirty="0"/>
          </a:p>
        </p:txBody>
      </p:sp>
      <p:sp>
        <p:nvSpPr>
          <p:cNvPr id="24" name="Shape 22"/>
          <p:cNvSpPr/>
          <p:nvPr/>
        </p:nvSpPr>
        <p:spPr>
          <a:xfrm>
            <a:off x="365760" y="3931920"/>
            <a:ext cx="8412480" cy="822960"/>
          </a:xfrm>
          <a:prstGeom prst="rect">
            <a:avLst/>
          </a:prstGeom>
          <a:solidFill>
            <a:srgbClr val="CFFAFE"/>
          </a:solidFill>
          <a:ln w="12700">
            <a:solidFill>
              <a:srgbClr val="0891B2"/>
            </a:solidFill>
            <a:prstDash val="solid"/>
          </a:ln>
        </p:spPr>
      </p:sp>
      <p:sp>
        <p:nvSpPr>
          <p:cNvPr id="25" name="Text 23"/>
          <p:cNvSpPr/>
          <p:nvPr/>
        </p:nvSpPr>
        <p:spPr>
          <a:xfrm>
            <a:off x="548640" y="3995928"/>
            <a:ext cx="8046720" cy="658368"/>
          </a:xfrm>
          <a:prstGeom prst="rect">
            <a:avLst/>
          </a:prstGeom>
          <a:noFill/>
          <a:ln/>
        </p:spPr>
        <p:txBody>
          <a:bodyPr wrap="square" rtlCol="0" anchor="ctr"/>
          <a:lstStyle/>
          <a:p>
            <a:pPr indent="0" marL="0">
              <a:buNone/>
            </a:pPr>
            <a:r>
              <a:rPr lang="en-US" sz="1300" dirty="0">
                <a:solidFill>
                  <a:srgbClr val="134E4A"/>
                </a:solidFill>
              </a:rPr>
              <a:t>💡  Tuple has fewer methods than List — because it can't be changed. Simple, but safe.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891B2"/>
          </a:solidFill>
          <a:ln w="12700">
            <a:solidFill>
              <a:srgbClr val="0891B2"/>
            </a:solidFill>
            <a:prstDash val="solid"/>
          </a:ln>
        </p:spPr>
      </p:sp>
      <p:sp>
        <p:nvSpPr>
          <p:cNvPr id="3" name="Text 1"/>
          <p:cNvSpPr/>
          <p:nvPr/>
        </p:nvSpPr>
        <p:spPr>
          <a:xfrm>
            <a:off x="457200" y="91440"/>
            <a:ext cx="8229600" cy="594360"/>
          </a:xfrm>
          <a:prstGeom prst="rect">
            <a:avLst/>
          </a:prstGeom>
          <a:noFill/>
          <a:ln/>
        </p:spPr>
        <p:txBody>
          <a:bodyPr wrap="square" rtlCol="0" anchor="ctr"/>
          <a:lstStyle/>
          <a:p>
            <a:pPr indent="0" marL="0">
              <a:buNone/>
            </a:pPr>
            <a:r>
              <a:rPr lang="en-US" sz="2600" b="1" dirty="0">
                <a:solidFill>
                  <a:srgbClr val="FFFFFF"/>
                </a:solidFill>
              </a:rPr>
              <a:t>Tuple — Strengths &amp; Weaknesses</a:t>
            </a:r>
            <a:endParaRPr lang="en-US" sz="2600" dirty="0"/>
          </a:p>
        </p:txBody>
      </p:sp>
      <p:sp>
        <p:nvSpPr>
          <p:cNvPr id="4" name="Shape 2"/>
          <p:cNvSpPr/>
          <p:nvPr/>
        </p:nvSpPr>
        <p:spPr>
          <a:xfrm>
            <a:off x="365760" y="914400"/>
            <a:ext cx="3931920" cy="3291840"/>
          </a:xfrm>
          <a:prstGeom prst="rect">
            <a:avLst/>
          </a:prstGeom>
          <a:solidFill>
            <a:srgbClr val="FFFFFF"/>
          </a:solidFill>
          <a:ln w="12700">
            <a:solidFill>
              <a:srgbClr val="E2E8F0"/>
            </a:solidFill>
            <a:prstDash val="solid"/>
          </a:ln>
        </p:spPr>
      </p:sp>
      <p:sp>
        <p:nvSpPr>
          <p:cNvPr id="5" name="Shape 3"/>
          <p:cNvSpPr/>
          <p:nvPr/>
        </p:nvSpPr>
        <p:spPr>
          <a:xfrm>
            <a:off x="365760" y="914400"/>
            <a:ext cx="3931920" cy="457200"/>
          </a:xfrm>
          <a:prstGeom prst="rect">
            <a:avLst/>
          </a:prstGeom>
          <a:solidFill>
            <a:srgbClr val="D1FAE5"/>
          </a:solidFill>
          <a:ln w="12700">
            <a:solidFill>
              <a:srgbClr val="D1FAE5"/>
            </a:solidFill>
            <a:prstDash val="solid"/>
          </a:ln>
        </p:spPr>
      </p:sp>
      <p:sp>
        <p:nvSpPr>
          <p:cNvPr id="6" name="Text 4"/>
          <p:cNvSpPr/>
          <p:nvPr/>
        </p:nvSpPr>
        <p:spPr>
          <a:xfrm>
            <a:off x="502920" y="960120"/>
            <a:ext cx="3657600" cy="365760"/>
          </a:xfrm>
          <a:prstGeom prst="rect">
            <a:avLst/>
          </a:prstGeom>
          <a:noFill/>
          <a:ln/>
        </p:spPr>
        <p:txBody>
          <a:bodyPr wrap="square" rtlCol="0" anchor="ctr"/>
          <a:lstStyle/>
          <a:p>
            <a:pPr indent="0" marL="0">
              <a:buNone/>
            </a:pPr>
            <a:r>
              <a:rPr lang="en-US" sz="1400" b="1" dirty="0">
                <a:solidFill>
                  <a:srgbClr val="059669"/>
                </a:solidFill>
              </a:rPr>
              <a:t>✅  Strengths</a:t>
            </a:r>
            <a:endParaRPr lang="en-US" sz="1400" dirty="0"/>
          </a:p>
        </p:txBody>
      </p:sp>
      <p:sp>
        <p:nvSpPr>
          <p:cNvPr id="7" name="Text 5"/>
          <p:cNvSpPr/>
          <p:nvPr/>
        </p:nvSpPr>
        <p:spPr>
          <a:xfrm>
            <a:off x="502920" y="1463040"/>
            <a:ext cx="3611880" cy="2560320"/>
          </a:xfrm>
          <a:prstGeom prst="rect">
            <a:avLst/>
          </a:prstGeom>
          <a:noFill/>
          <a:ln/>
        </p:spPr>
        <p:txBody>
          <a:bodyPr wrap="square" rtlCol="0" anchor="ctr"/>
          <a:lstStyle/>
          <a:p>
            <a:pPr marL="342900" indent="-342900">
              <a:buSzPct val="100000"/>
              <a:buChar char="•"/>
            </a:pPr>
            <a:r>
              <a:rPr lang="en-US" sz="1300" dirty="0">
                <a:solidFill>
                  <a:srgbClr val="1E293B"/>
                </a:solidFill>
              </a:rPr>
              <a:t>Safer than List — data won't be changed accidentally</a:t>
            </a:r>
            <a:endParaRPr lang="en-US" sz="1300" dirty="0"/>
          </a:p>
          <a:p>
            <a:pPr marL="342900" indent="-342900">
              <a:buSzPct val="100000"/>
              <a:buChar char="•"/>
            </a:pPr>
            <a:r>
              <a:rPr lang="en-US" sz="1300" dirty="0">
                <a:solidFill>
                  <a:srgbClr val="1E293B"/>
                </a:solidFill>
              </a:rPr>
              <a:t>Great for fixed data (IDs, coordinates)</a:t>
            </a:r>
            <a:endParaRPr lang="en-US" sz="1300" dirty="0"/>
          </a:p>
          <a:p>
            <a:pPr marL="342900" indent="-342900">
              <a:buSzPct val="100000"/>
              <a:buChar char="•"/>
            </a:pPr>
            <a:r>
              <a:rPr lang="en-US" sz="1300" dirty="0">
                <a:solidFill>
                  <a:srgbClr val="1E293B"/>
                </a:solidFill>
              </a:rPr>
              <a:t>Ordered, accessible by index</a:t>
            </a:r>
            <a:endParaRPr lang="en-US" sz="1300" dirty="0"/>
          </a:p>
          <a:p>
            <a:pPr marL="342900" indent="-342900">
              <a:buSzPct val="100000"/>
              <a:buChar char="•"/>
            </a:pPr>
            <a:r>
              <a:rPr lang="en-US" sz="1300" dirty="0">
                <a:solidFill>
                  <a:srgbClr val="1E293B"/>
                </a:solidFill>
              </a:rPr>
              <a:t>Usually slightly lighter than List</a:t>
            </a:r>
            <a:endParaRPr lang="en-US" sz="1300" dirty="0"/>
          </a:p>
        </p:txBody>
      </p:sp>
      <p:sp>
        <p:nvSpPr>
          <p:cNvPr id="8" name="Shape 6"/>
          <p:cNvSpPr/>
          <p:nvPr/>
        </p:nvSpPr>
        <p:spPr>
          <a:xfrm>
            <a:off x="4846320" y="914400"/>
            <a:ext cx="3931920" cy="3291840"/>
          </a:xfrm>
          <a:prstGeom prst="rect">
            <a:avLst/>
          </a:prstGeom>
          <a:solidFill>
            <a:srgbClr val="FFFFFF"/>
          </a:solidFill>
          <a:ln w="12700">
            <a:solidFill>
              <a:srgbClr val="E2E8F0"/>
            </a:solidFill>
            <a:prstDash val="solid"/>
          </a:ln>
        </p:spPr>
      </p:sp>
      <p:sp>
        <p:nvSpPr>
          <p:cNvPr id="9" name="Shape 7"/>
          <p:cNvSpPr/>
          <p:nvPr/>
        </p:nvSpPr>
        <p:spPr>
          <a:xfrm>
            <a:off x="4846320" y="914400"/>
            <a:ext cx="3931920" cy="457200"/>
          </a:xfrm>
          <a:prstGeom prst="rect">
            <a:avLst/>
          </a:prstGeom>
          <a:solidFill>
            <a:srgbClr val="FEE2E2"/>
          </a:solidFill>
          <a:ln w="12700">
            <a:solidFill>
              <a:srgbClr val="FEE2E2"/>
            </a:solidFill>
            <a:prstDash val="solid"/>
          </a:ln>
        </p:spPr>
      </p:sp>
      <p:sp>
        <p:nvSpPr>
          <p:cNvPr id="10" name="Text 8"/>
          <p:cNvSpPr/>
          <p:nvPr/>
        </p:nvSpPr>
        <p:spPr>
          <a:xfrm>
            <a:off x="4983480" y="960120"/>
            <a:ext cx="3657600" cy="365760"/>
          </a:xfrm>
          <a:prstGeom prst="rect">
            <a:avLst/>
          </a:prstGeom>
          <a:noFill/>
          <a:ln/>
        </p:spPr>
        <p:txBody>
          <a:bodyPr wrap="square" rtlCol="0" anchor="ctr"/>
          <a:lstStyle/>
          <a:p>
            <a:pPr indent="0" marL="0">
              <a:buNone/>
            </a:pPr>
            <a:r>
              <a:rPr lang="en-US" sz="1400" b="1" dirty="0">
                <a:solidFill>
                  <a:srgbClr val="B91C1C"/>
                </a:solidFill>
              </a:rPr>
              <a:t>⚠️  Weaknesses</a:t>
            </a:r>
            <a:endParaRPr lang="en-US" sz="1400" dirty="0"/>
          </a:p>
        </p:txBody>
      </p:sp>
      <p:sp>
        <p:nvSpPr>
          <p:cNvPr id="11" name="Text 9"/>
          <p:cNvSpPr/>
          <p:nvPr/>
        </p:nvSpPr>
        <p:spPr>
          <a:xfrm>
            <a:off x="4983480" y="1463040"/>
            <a:ext cx="3611880" cy="2560320"/>
          </a:xfrm>
          <a:prstGeom prst="rect">
            <a:avLst/>
          </a:prstGeom>
          <a:noFill/>
          <a:ln/>
        </p:spPr>
        <p:txBody>
          <a:bodyPr wrap="square" rtlCol="0" anchor="ctr"/>
          <a:lstStyle/>
          <a:p>
            <a:pPr marL="342900" indent="-342900">
              <a:buSzPct val="100000"/>
              <a:buChar char="•"/>
            </a:pPr>
            <a:r>
              <a:rPr lang="en-US" sz="1300" dirty="0">
                <a:solidFill>
                  <a:srgbClr val="1E293B"/>
                </a:solidFill>
              </a:rPr>
              <a:t>Cannot add, edit, or delete items directly</a:t>
            </a:r>
            <a:endParaRPr lang="en-US" sz="1300" dirty="0"/>
          </a:p>
          <a:p>
            <a:pPr marL="342900" indent="-342900">
              <a:buSzPct val="100000"/>
              <a:buChar char="•"/>
            </a:pPr>
            <a:r>
              <a:rPr lang="en-US" sz="1300" dirty="0">
                <a:solidFill>
                  <a:srgbClr val="1E293B"/>
                </a:solidFill>
              </a:rPr>
              <a:t>Far fewer methods than List</a:t>
            </a:r>
            <a:endParaRPr lang="en-US" sz="1300" dirty="0"/>
          </a:p>
          <a:p>
            <a:pPr marL="342900" indent="-342900">
              <a:buSzPct val="100000"/>
              <a:buChar char="•"/>
            </a:pPr>
            <a:r>
              <a:rPr lang="en-US" sz="1300" dirty="0">
                <a:solidFill>
                  <a:srgbClr val="1E293B"/>
                </a:solidFill>
              </a:rPr>
              <a:t>Not suitable for data that changes often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7C3AED"/>
          </a:solidFill>
          <a:ln w="12700">
            <a:solidFill>
              <a:srgbClr val="7C3AED"/>
            </a:solidFill>
            <a:prstDash val="solid"/>
          </a:ln>
        </p:spPr>
      </p:sp>
      <p:pic>
        <p:nvPicPr>
          <p:cNvPr id="3" name="Image 0" descr="preencoded.png">    </p:cNvPr>
          <p:cNvPicPr>
            <a:picLocks noChangeAspect="1"/>
          </p:cNvPicPr>
          <p:nvPr/>
        </p:nvPicPr>
        <p:blipFill>
          <a:blip r:embed="rId1"/>
          <a:stretch>
            <a:fillRect/>
          </a:stretch>
        </p:blipFill>
        <p:spPr>
          <a:xfrm>
            <a:off x="320040" y="164592"/>
            <a:ext cx="548640" cy="548640"/>
          </a:xfrm>
          <a:prstGeom prst="rect">
            <a:avLst/>
          </a:prstGeom>
        </p:spPr>
      </p:pic>
      <p:sp>
        <p:nvSpPr>
          <p:cNvPr id="4" name="Text 1"/>
          <p:cNvSpPr/>
          <p:nvPr/>
        </p:nvSpPr>
        <p:spPr>
          <a:xfrm>
            <a:off x="1005840" y="137160"/>
            <a:ext cx="7772400" cy="640080"/>
          </a:xfrm>
          <a:prstGeom prst="rect">
            <a:avLst/>
          </a:prstGeom>
          <a:noFill/>
          <a:ln/>
        </p:spPr>
        <p:txBody>
          <a:bodyPr wrap="square" rtlCol="0" anchor="ctr"/>
          <a:lstStyle/>
          <a:p>
            <a:pPr indent="0" marL="0">
              <a:buNone/>
            </a:pPr>
            <a:r>
              <a:rPr lang="en-US" sz="2600" b="1" dirty="0">
                <a:solidFill>
                  <a:srgbClr val="FFFFFF"/>
                </a:solidFill>
              </a:rPr>
              <a:t>Set — Unique Values Only</a:t>
            </a:r>
            <a:endParaRPr lang="en-US" sz="2600" dirty="0"/>
          </a:p>
        </p:txBody>
      </p:sp>
      <p:sp>
        <p:nvSpPr>
          <p:cNvPr id="5" name="Text 2"/>
          <p:cNvSpPr/>
          <p:nvPr/>
        </p:nvSpPr>
        <p:spPr>
          <a:xfrm>
            <a:off x="457200" y="1051560"/>
            <a:ext cx="8229600" cy="502920"/>
          </a:xfrm>
          <a:prstGeom prst="rect">
            <a:avLst/>
          </a:prstGeom>
          <a:noFill/>
          <a:ln/>
        </p:spPr>
        <p:txBody>
          <a:bodyPr wrap="square" rtlCol="0" anchor="ctr"/>
          <a:lstStyle/>
          <a:p>
            <a:pPr indent="0" marL="0">
              <a:buNone/>
            </a:pPr>
            <a:r>
              <a:rPr lang="en-US" sz="1500" dirty="0">
                <a:solidFill>
                  <a:srgbClr val="64748B"/>
                </a:solidFill>
              </a:rPr>
              <a:t>A Set stores multiple values — but automatically removes duplicates.</a:t>
            </a:r>
            <a:endParaRPr lang="en-US" sz="1500" dirty="0"/>
          </a:p>
        </p:txBody>
      </p:sp>
      <p:sp>
        <p:nvSpPr>
          <p:cNvPr id="6" name="Shape 3"/>
          <p:cNvSpPr/>
          <p:nvPr/>
        </p:nvSpPr>
        <p:spPr>
          <a:xfrm>
            <a:off x="457200" y="1600200"/>
            <a:ext cx="5303520" cy="1554480"/>
          </a:xfrm>
          <a:prstGeom prst="rect">
            <a:avLst>
              <a:gd name="adj" fmla="val 4706"/>
            </a:avLst>
          </a:prstGeom>
          <a:solidFill>
            <a:srgbClr val="1E293B"/>
          </a:solidFill>
          <a:ln w="12700">
            <a:solidFill>
              <a:srgbClr val="1E293B"/>
            </a:solidFill>
            <a:prstDash val="solid"/>
          </a:ln>
        </p:spPr>
      </p:sp>
      <p:sp>
        <p:nvSpPr>
          <p:cNvPr id="7" name="Text 4"/>
          <p:cNvSpPr/>
          <p:nvPr/>
        </p:nvSpPr>
        <p:spPr>
          <a:xfrm>
            <a:off x="640080" y="1691640"/>
            <a:ext cx="4937760" cy="1325880"/>
          </a:xfrm>
          <a:prstGeom prst="rect">
            <a:avLst/>
          </a:prstGeom>
          <a:noFill/>
          <a:ln/>
        </p:spPr>
        <p:txBody>
          <a:bodyPr wrap="square" rtlCol="0" anchor="ctr"/>
          <a:lstStyle/>
          <a:p>
            <a:pPr indent="0" marL="0">
              <a:buNone/>
            </a:pPr>
            <a:r>
              <a:rPr lang="en-US" sz="1250" dirty="0">
                <a:solidFill>
                  <a:srgbClr val="93C5FD"/>
                </a:solidFill>
                <a:latin typeface="Consolas" pitchFamily="34" charset="0"/>
                <a:ea typeface="Consolas" pitchFamily="34" charset="-122"/>
                <a:cs typeface="Consolas" pitchFamily="34" charset="-120"/>
              </a:rPr>
              <a:t>student_ids </a:t>
            </a:r>
            <a:pPr indent="0" marL="0">
              <a:buNone/>
            </a:pPr>
            <a:r>
              <a:rPr lang="en-US" sz="1250" dirty="0">
                <a:solidFill>
                  <a:srgbClr val="E5E7EB"/>
                </a:solidFill>
                <a:latin typeface="Consolas" pitchFamily="34" charset="0"/>
                <a:ea typeface="Consolas" pitchFamily="34" charset="-122"/>
                <a:cs typeface="Consolas" pitchFamily="34" charset="-120"/>
              </a:rPr>
              <a:t>= </a:t>
            </a:r>
            <a:pPr indent="0" marL="0">
              <a:buNone/>
            </a:pPr>
            <a:r>
              <a:rPr lang="en-US" sz="1250" dirty="0">
                <a:solidFill>
                  <a:srgbClr val="C4B5FD"/>
                </a:solidFill>
                <a:latin typeface="Consolas" pitchFamily="34" charset="0"/>
                <a:ea typeface="Consolas" pitchFamily="34" charset="-122"/>
                <a:cs typeface="Consolas" pitchFamily="34" charset="-120"/>
              </a:rPr>
              <a:t>{"SE01", "SE02", "SE03"}</a:t>
            </a:r>
            <a:endParaRPr lang="en-US" sz="1250" dirty="0"/>
          </a:p>
          <a:p>
            <a:pPr indent="0" marL="0">
              <a:buNone/>
            </a:pPr>
            <a:endParaRPr lang="en-US" sz="1250" dirty="0"/>
          </a:p>
          <a:p>
            <a:pPr indent="0" marL="0">
              <a:buNone/>
            </a:pPr>
            <a:r>
              <a:rPr lang="en-US" sz="1250" dirty="0">
                <a:solidFill>
                  <a:srgbClr val="6B7280"/>
                </a:solidFill>
                <a:latin typeface="Consolas" pitchFamily="34" charset="0"/>
                <a:ea typeface="Consolas" pitchFamily="34" charset="-122"/>
                <a:cs typeface="Consolas" pitchFamily="34" charset="-120"/>
              </a:rPr>
              <a:t># Add a duplicate:</a:t>
            </a:r>
            <a:endParaRPr lang="en-US" sz="1250" dirty="0"/>
          </a:p>
          <a:p>
            <a:pPr indent="0" marL="0">
              <a:buNone/>
            </a:pPr>
            <a:r>
              <a:rPr lang="en-US" sz="1250" dirty="0">
                <a:solidFill>
                  <a:srgbClr val="E5E7EB"/>
                </a:solidFill>
                <a:latin typeface="Consolas" pitchFamily="34" charset="0"/>
                <a:ea typeface="Consolas" pitchFamily="34" charset="-122"/>
                <a:cs typeface="Consolas" pitchFamily="34" charset="-120"/>
              </a:rPr>
              <a:t>student_ids.add(</a:t>
            </a:r>
            <a:pPr indent="0" marL="0">
              <a:buNone/>
            </a:pPr>
            <a:r>
              <a:rPr lang="en-US" sz="1250" dirty="0">
                <a:solidFill>
                  <a:srgbClr val="C4B5FD"/>
                </a:solidFill>
                <a:latin typeface="Consolas" pitchFamily="34" charset="0"/>
                <a:ea typeface="Consolas" pitchFamily="34" charset="-122"/>
                <a:cs typeface="Consolas" pitchFamily="34" charset="-120"/>
              </a:rPr>
              <a:t>"SE01"</a:t>
            </a:r>
            <a:pPr indent="0" marL="0">
              <a:buNone/>
            </a:pPr>
            <a:r>
              <a:rPr lang="en-US" sz="1250" dirty="0">
                <a:solidFill>
                  <a:srgbClr val="6B7280"/>
                </a:solidFill>
                <a:latin typeface="Consolas" pitchFamily="34" charset="0"/>
                <a:ea typeface="Consolas" pitchFamily="34" charset="-122"/>
                <a:cs typeface="Consolas" pitchFamily="34" charset="-120"/>
              </a:rPr>
              <a:t>)  # Still only 3 items!</a:t>
            </a:r>
            <a:endParaRPr lang="en-US" sz="1250" dirty="0"/>
          </a:p>
        </p:txBody>
      </p:sp>
      <p:sp>
        <p:nvSpPr>
          <p:cNvPr id="8" name="Text 5"/>
          <p:cNvSpPr/>
          <p:nvPr/>
        </p:nvSpPr>
        <p:spPr>
          <a:xfrm>
            <a:off x="5943600" y="1600200"/>
            <a:ext cx="2926080" cy="2011680"/>
          </a:xfrm>
          <a:prstGeom prst="rect">
            <a:avLst/>
          </a:prstGeom>
          <a:noFill/>
          <a:ln/>
        </p:spPr>
        <p:txBody>
          <a:bodyPr wrap="square" rtlCol="0" anchor="ctr"/>
          <a:lstStyle/>
          <a:p>
            <a:pPr marL="342900" indent="-342900">
              <a:buSzPct val="100000"/>
              <a:buChar char="•"/>
            </a:pPr>
            <a:r>
              <a:rPr lang="en-US" sz="1300" dirty="0">
                <a:solidFill>
                  <a:srgbClr val="1E293B"/>
                </a:solidFill>
              </a:rPr>
              <a:t>No duplicate values</a:t>
            </a:r>
            <a:endParaRPr lang="en-US" sz="1300" dirty="0"/>
          </a:p>
          <a:p>
            <a:pPr marL="342900" indent="-342900">
              <a:buSzPct val="100000"/>
              <a:buChar char="•"/>
            </a:pPr>
            <a:r>
              <a:rPr lang="en-US" sz="1300" dirty="0">
                <a:solidFill>
                  <a:srgbClr val="1E293B"/>
                </a:solidFill>
              </a:rPr>
              <a:t>No fixed order</a:t>
            </a:r>
            <a:endParaRPr lang="en-US" sz="1300" dirty="0"/>
          </a:p>
          <a:p>
            <a:pPr marL="342900" indent="-342900">
              <a:buSzPct val="100000"/>
              <a:buChar char="•"/>
            </a:pPr>
            <a:r>
              <a:rPr lang="en-US" sz="1300" dirty="0">
                <a:solidFill>
                  <a:srgbClr val="1E293B"/>
                </a:solidFill>
              </a:rPr>
              <a:t>Can add and remove items</a:t>
            </a:r>
            <a:endParaRPr lang="en-US" sz="1300" dirty="0"/>
          </a:p>
          <a:p>
            <a:pPr marL="342900" indent="-342900">
              <a:buSzPct val="100000"/>
              <a:buChar char="•"/>
            </a:pPr>
            <a:r>
              <a:rPr lang="en-US" sz="1300" dirty="0">
                <a:solidFill>
                  <a:srgbClr val="1E293B"/>
                </a:solidFill>
              </a:rPr>
              <a:t>Cannot access by index</a:t>
            </a:r>
            <a:endParaRPr lang="en-US" sz="1300" dirty="0"/>
          </a:p>
        </p:txBody>
      </p:sp>
      <p:sp>
        <p:nvSpPr>
          <p:cNvPr id="9" name="Shape 6"/>
          <p:cNvSpPr/>
          <p:nvPr/>
        </p:nvSpPr>
        <p:spPr>
          <a:xfrm>
            <a:off x="457200" y="3291840"/>
            <a:ext cx="8229600" cy="777240"/>
          </a:xfrm>
          <a:prstGeom prst="rect">
            <a:avLst/>
          </a:prstGeom>
          <a:solidFill>
            <a:srgbClr val="EDE9FE"/>
          </a:solidFill>
          <a:ln w="12700">
            <a:solidFill>
              <a:srgbClr val="7C3AED"/>
            </a:solidFill>
            <a:prstDash val="solid"/>
          </a:ln>
        </p:spPr>
      </p:sp>
      <p:sp>
        <p:nvSpPr>
          <p:cNvPr id="10" name="Text 7"/>
          <p:cNvSpPr/>
          <p:nvPr/>
        </p:nvSpPr>
        <p:spPr>
          <a:xfrm>
            <a:off x="594360" y="3355848"/>
            <a:ext cx="7955280" cy="640080"/>
          </a:xfrm>
          <a:prstGeom prst="rect">
            <a:avLst/>
          </a:prstGeom>
          <a:noFill/>
          <a:ln/>
        </p:spPr>
        <p:txBody>
          <a:bodyPr wrap="square" rtlCol="0" anchor="ctr"/>
          <a:lstStyle/>
          <a:p>
            <a:pPr indent="0" marL="0">
              <a:buNone/>
            </a:pPr>
            <a:r>
              <a:rPr lang="en-US" sz="1300" dirty="0">
                <a:solidFill>
                  <a:srgbClr val="4C1D95"/>
                </a:solidFill>
              </a:rPr>
              <a:t>🔍  Best for: Email lists, student IDs, phone numbers — any unique data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7C3AED"/>
          </a:solidFill>
          <a:ln w="12700">
            <a:solidFill>
              <a:srgbClr val="7C3AED"/>
            </a:solidFill>
            <a:prstDash val="solid"/>
          </a:ln>
        </p:spPr>
      </p:sp>
      <p:sp>
        <p:nvSpPr>
          <p:cNvPr id="3" name="Text 1"/>
          <p:cNvSpPr/>
          <p:nvPr/>
        </p:nvSpPr>
        <p:spPr>
          <a:xfrm>
            <a:off x="457200" y="91440"/>
            <a:ext cx="8229600" cy="594360"/>
          </a:xfrm>
          <a:prstGeom prst="rect">
            <a:avLst/>
          </a:prstGeom>
          <a:noFill/>
          <a:ln/>
        </p:spPr>
        <p:txBody>
          <a:bodyPr wrap="square" rtlCol="0" anchor="ctr"/>
          <a:lstStyle/>
          <a:p>
            <a:pPr indent="0" marL="0">
              <a:buNone/>
            </a:pPr>
            <a:r>
              <a:rPr lang="en-US" sz="2600" b="1" dirty="0">
                <a:solidFill>
                  <a:srgbClr val="FFFFFF"/>
                </a:solidFill>
              </a:rPr>
              <a:t>Set — Key Methods</a:t>
            </a:r>
            <a:endParaRPr lang="en-US" sz="2600" dirty="0"/>
          </a:p>
        </p:txBody>
      </p:sp>
      <p:sp>
        <p:nvSpPr>
          <p:cNvPr id="4" name="Shape 2"/>
          <p:cNvSpPr/>
          <p:nvPr/>
        </p:nvSpPr>
        <p:spPr>
          <a:xfrm>
            <a:off x="365760" y="91440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5" name="Shape 3"/>
          <p:cNvSpPr/>
          <p:nvPr/>
        </p:nvSpPr>
        <p:spPr>
          <a:xfrm>
            <a:off x="365760" y="914400"/>
            <a:ext cx="2606040" cy="347472"/>
          </a:xfrm>
          <a:prstGeom prst="rect">
            <a:avLst/>
          </a:prstGeom>
          <a:solidFill>
            <a:srgbClr val="EDE9FE"/>
          </a:solidFill>
          <a:ln w="12700">
            <a:solidFill>
              <a:srgbClr val="EDE9FE"/>
            </a:solidFill>
            <a:prstDash val="solid"/>
          </a:ln>
        </p:spPr>
      </p:sp>
      <p:sp>
        <p:nvSpPr>
          <p:cNvPr id="6" name="Text 4"/>
          <p:cNvSpPr/>
          <p:nvPr/>
        </p:nvSpPr>
        <p:spPr>
          <a:xfrm>
            <a:off x="457200" y="950976"/>
            <a:ext cx="2423160" cy="274320"/>
          </a:xfrm>
          <a:prstGeom prst="rect">
            <a:avLst/>
          </a:prstGeom>
          <a:noFill/>
          <a:ln/>
        </p:spPr>
        <p:txBody>
          <a:bodyPr wrap="square" rtlCol="0" anchor="ctr"/>
          <a:lstStyle/>
          <a:p>
            <a:pPr indent="0" marL="0">
              <a:buNone/>
            </a:pPr>
            <a:r>
              <a:rPr lang="en-US" sz="1300" b="1" dirty="0">
                <a:solidFill>
                  <a:srgbClr val="7C3AED"/>
                </a:solidFill>
                <a:latin typeface="Consolas" pitchFamily="34" charset="0"/>
                <a:ea typeface="Consolas" pitchFamily="34" charset="-122"/>
                <a:cs typeface="Consolas" pitchFamily="34" charset="-120"/>
              </a:rPr>
              <a:t>add()</a:t>
            </a:r>
            <a:endParaRPr lang="en-US" sz="1300" dirty="0"/>
          </a:p>
        </p:txBody>
      </p:sp>
      <p:sp>
        <p:nvSpPr>
          <p:cNvPr id="7" name="Text 5"/>
          <p:cNvSpPr/>
          <p:nvPr/>
        </p:nvSpPr>
        <p:spPr>
          <a:xfrm>
            <a:off x="457200" y="1325880"/>
            <a:ext cx="2423160" cy="548640"/>
          </a:xfrm>
          <a:prstGeom prst="rect">
            <a:avLst/>
          </a:prstGeom>
          <a:noFill/>
          <a:ln/>
        </p:spPr>
        <p:txBody>
          <a:bodyPr wrap="square" rtlCol="0" anchor="ctr"/>
          <a:lstStyle/>
          <a:p>
            <a:pPr indent="0" marL="0">
              <a:buNone/>
            </a:pPr>
            <a:r>
              <a:rPr lang="en-US" sz="1200" dirty="0">
                <a:solidFill>
                  <a:srgbClr val="1E293B"/>
                </a:solidFill>
              </a:rPr>
              <a:t>Add an item</a:t>
            </a:r>
            <a:endParaRPr lang="en-US" sz="1200" dirty="0"/>
          </a:p>
        </p:txBody>
      </p:sp>
      <p:sp>
        <p:nvSpPr>
          <p:cNvPr id="8" name="Shape 6"/>
          <p:cNvSpPr/>
          <p:nvPr/>
        </p:nvSpPr>
        <p:spPr>
          <a:xfrm>
            <a:off x="3200400" y="91440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9" name="Shape 7"/>
          <p:cNvSpPr/>
          <p:nvPr/>
        </p:nvSpPr>
        <p:spPr>
          <a:xfrm>
            <a:off x="3200400" y="914400"/>
            <a:ext cx="2606040" cy="347472"/>
          </a:xfrm>
          <a:prstGeom prst="rect">
            <a:avLst/>
          </a:prstGeom>
          <a:solidFill>
            <a:srgbClr val="EDE9FE"/>
          </a:solidFill>
          <a:ln w="12700">
            <a:solidFill>
              <a:srgbClr val="EDE9FE"/>
            </a:solidFill>
            <a:prstDash val="solid"/>
          </a:ln>
        </p:spPr>
      </p:sp>
      <p:sp>
        <p:nvSpPr>
          <p:cNvPr id="10" name="Text 8"/>
          <p:cNvSpPr/>
          <p:nvPr/>
        </p:nvSpPr>
        <p:spPr>
          <a:xfrm>
            <a:off x="3291840" y="950976"/>
            <a:ext cx="2423160" cy="274320"/>
          </a:xfrm>
          <a:prstGeom prst="rect">
            <a:avLst/>
          </a:prstGeom>
          <a:noFill/>
          <a:ln/>
        </p:spPr>
        <p:txBody>
          <a:bodyPr wrap="square" rtlCol="0" anchor="ctr"/>
          <a:lstStyle/>
          <a:p>
            <a:pPr indent="0" marL="0">
              <a:buNone/>
            </a:pPr>
            <a:r>
              <a:rPr lang="en-US" sz="1300" b="1" dirty="0">
                <a:solidFill>
                  <a:srgbClr val="7C3AED"/>
                </a:solidFill>
                <a:latin typeface="Consolas" pitchFamily="34" charset="0"/>
                <a:ea typeface="Consolas" pitchFamily="34" charset="-122"/>
                <a:cs typeface="Consolas" pitchFamily="34" charset="-120"/>
              </a:rPr>
              <a:t>remove()</a:t>
            </a:r>
            <a:endParaRPr lang="en-US" sz="1300" dirty="0"/>
          </a:p>
        </p:txBody>
      </p:sp>
      <p:sp>
        <p:nvSpPr>
          <p:cNvPr id="11" name="Text 9"/>
          <p:cNvSpPr/>
          <p:nvPr/>
        </p:nvSpPr>
        <p:spPr>
          <a:xfrm>
            <a:off x="3291840" y="1325880"/>
            <a:ext cx="2423160" cy="548640"/>
          </a:xfrm>
          <a:prstGeom prst="rect">
            <a:avLst/>
          </a:prstGeom>
          <a:noFill/>
          <a:ln/>
        </p:spPr>
        <p:txBody>
          <a:bodyPr wrap="square" rtlCol="0" anchor="ctr"/>
          <a:lstStyle/>
          <a:p>
            <a:pPr indent="0" marL="0">
              <a:buNone/>
            </a:pPr>
            <a:r>
              <a:rPr lang="en-US" sz="1200" dirty="0">
                <a:solidFill>
                  <a:srgbClr val="1E293B"/>
                </a:solidFill>
              </a:rPr>
              <a:t>Delete (error if missing)</a:t>
            </a:r>
            <a:endParaRPr lang="en-US" sz="1200" dirty="0"/>
          </a:p>
        </p:txBody>
      </p:sp>
      <p:sp>
        <p:nvSpPr>
          <p:cNvPr id="12" name="Shape 10"/>
          <p:cNvSpPr/>
          <p:nvPr/>
        </p:nvSpPr>
        <p:spPr>
          <a:xfrm>
            <a:off x="6035040" y="91440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13" name="Shape 11"/>
          <p:cNvSpPr/>
          <p:nvPr/>
        </p:nvSpPr>
        <p:spPr>
          <a:xfrm>
            <a:off x="6035040" y="914400"/>
            <a:ext cx="2606040" cy="347472"/>
          </a:xfrm>
          <a:prstGeom prst="rect">
            <a:avLst/>
          </a:prstGeom>
          <a:solidFill>
            <a:srgbClr val="EDE9FE"/>
          </a:solidFill>
          <a:ln w="12700">
            <a:solidFill>
              <a:srgbClr val="EDE9FE"/>
            </a:solidFill>
            <a:prstDash val="solid"/>
          </a:ln>
        </p:spPr>
      </p:sp>
      <p:sp>
        <p:nvSpPr>
          <p:cNvPr id="14" name="Text 12"/>
          <p:cNvSpPr/>
          <p:nvPr/>
        </p:nvSpPr>
        <p:spPr>
          <a:xfrm>
            <a:off x="6126480" y="950976"/>
            <a:ext cx="2423160" cy="274320"/>
          </a:xfrm>
          <a:prstGeom prst="rect">
            <a:avLst/>
          </a:prstGeom>
          <a:noFill/>
          <a:ln/>
        </p:spPr>
        <p:txBody>
          <a:bodyPr wrap="square" rtlCol="0" anchor="ctr"/>
          <a:lstStyle/>
          <a:p>
            <a:pPr indent="0" marL="0">
              <a:buNone/>
            </a:pPr>
            <a:r>
              <a:rPr lang="en-US" sz="1300" b="1" dirty="0">
                <a:solidFill>
                  <a:srgbClr val="7C3AED"/>
                </a:solidFill>
                <a:latin typeface="Consolas" pitchFamily="34" charset="0"/>
                <a:ea typeface="Consolas" pitchFamily="34" charset="-122"/>
                <a:cs typeface="Consolas" pitchFamily="34" charset="-120"/>
              </a:rPr>
              <a:t>discard()</a:t>
            </a:r>
            <a:endParaRPr lang="en-US" sz="1300" dirty="0"/>
          </a:p>
        </p:txBody>
      </p:sp>
      <p:sp>
        <p:nvSpPr>
          <p:cNvPr id="15" name="Text 13"/>
          <p:cNvSpPr/>
          <p:nvPr/>
        </p:nvSpPr>
        <p:spPr>
          <a:xfrm>
            <a:off x="6126480" y="1325880"/>
            <a:ext cx="2423160" cy="548640"/>
          </a:xfrm>
          <a:prstGeom prst="rect">
            <a:avLst/>
          </a:prstGeom>
          <a:noFill/>
          <a:ln/>
        </p:spPr>
        <p:txBody>
          <a:bodyPr wrap="square" rtlCol="0" anchor="ctr"/>
          <a:lstStyle/>
          <a:p>
            <a:pPr indent="0" marL="0">
              <a:buNone/>
            </a:pPr>
            <a:r>
              <a:rPr lang="en-US" sz="1200" dirty="0">
                <a:solidFill>
                  <a:srgbClr val="1E293B"/>
                </a:solidFill>
              </a:rPr>
              <a:t>Delete (no error if missing)</a:t>
            </a:r>
            <a:endParaRPr lang="en-US" sz="1200" dirty="0"/>
          </a:p>
        </p:txBody>
      </p:sp>
      <p:sp>
        <p:nvSpPr>
          <p:cNvPr id="16" name="Shape 14"/>
          <p:cNvSpPr/>
          <p:nvPr/>
        </p:nvSpPr>
        <p:spPr>
          <a:xfrm>
            <a:off x="365760" y="214884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17" name="Shape 15"/>
          <p:cNvSpPr/>
          <p:nvPr/>
        </p:nvSpPr>
        <p:spPr>
          <a:xfrm>
            <a:off x="365760" y="2148840"/>
            <a:ext cx="2606040" cy="347472"/>
          </a:xfrm>
          <a:prstGeom prst="rect">
            <a:avLst/>
          </a:prstGeom>
          <a:solidFill>
            <a:srgbClr val="EDE9FE"/>
          </a:solidFill>
          <a:ln w="12700">
            <a:solidFill>
              <a:srgbClr val="EDE9FE"/>
            </a:solidFill>
            <a:prstDash val="solid"/>
          </a:ln>
        </p:spPr>
      </p:sp>
      <p:sp>
        <p:nvSpPr>
          <p:cNvPr id="18" name="Text 16"/>
          <p:cNvSpPr/>
          <p:nvPr/>
        </p:nvSpPr>
        <p:spPr>
          <a:xfrm>
            <a:off x="457200" y="2185416"/>
            <a:ext cx="2423160" cy="274320"/>
          </a:xfrm>
          <a:prstGeom prst="rect">
            <a:avLst/>
          </a:prstGeom>
          <a:noFill/>
          <a:ln/>
        </p:spPr>
        <p:txBody>
          <a:bodyPr wrap="square" rtlCol="0" anchor="ctr"/>
          <a:lstStyle/>
          <a:p>
            <a:pPr indent="0" marL="0">
              <a:buNone/>
            </a:pPr>
            <a:r>
              <a:rPr lang="en-US" sz="1300" b="1" dirty="0">
                <a:solidFill>
                  <a:srgbClr val="7C3AED"/>
                </a:solidFill>
                <a:latin typeface="Consolas" pitchFamily="34" charset="0"/>
                <a:ea typeface="Consolas" pitchFamily="34" charset="-122"/>
                <a:cs typeface="Consolas" pitchFamily="34" charset="-120"/>
              </a:rPr>
              <a:t>pop()</a:t>
            </a:r>
            <a:endParaRPr lang="en-US" sz="1300" dirty="0"/>
          </a:p>
        </p:txBody>
      </p:sp>
      <p:sp>
        <p:nvSpPr>
          <p:cNvPr id="19" name="Text 17"/>
          <p:cNvSpPr/>
          <p:nvPr/>
        </p:nvSpPr>
        <p:spPr>
          <a:xfrm>
            <a:off x="457200" y="2560320"/>
            <a:ext cx="2423160" cy="548640"/>
          </a:xfrm>
          <a:prstGeom prst="rect">
            <a:avLst/>
          </a:prstGeom>
          <a:noFill/>
          <a:ln/>
        </p:spPr>
        <p:txBody>
          <a:bodyPr wrap="square" rtlCol="0" anchor="ctr"/>
          <a:lstStyle/>
          <a:p>
            <a:pPr indent="0" marL="0">
              <a:buNone/>
            </a:pPr>
            <a:r>
              <a:rPr lang="en-US" sz="1200" dirty="0">
                <a:solidFill>
                  <a:srgbClr val="1E293B"/>
                </a:solidFill>
              </a:rPr>
              <a:t>Remove a random item</a:t>
            </a:r>
            <a:endParaRPr lang="en-US" sz="1200" dirty="0"/>
          </a:p>
        </p:txBody>
      </p:sp>
      <p:sp>
        <p:nvSpPr>
          <p:cNvPr id="20" name="Shape 18"/>
          <p:cNvSpPr/>
          <p:nvPr/>
        </p:nvSpPr>
        <p:spPr>
          <a:xfrm>
            <a:off x="3200400" y="214884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21" name="Shape 19"/>
          <p:cNvSpPr/>
          <p:nvPr/>
        </p:nvSpPr>
        <p:spPr>
          <a:xfrm>
            <a:off x="3200400" y="2148840"/>
            <a:ext cx="2606040" cy="347472"/>
          </a:xfrm>
          <a:prstGeom prst="rect">
            <a:avLst/>
          </a:prstGeom>
          <a:solidFill>
            <a:srgbClr val="EDE9FE"/>
          </a:solidFill>
          <a:ln w="12700">
            <a:solidFill>
              <a:srgbClr val="EDE9FE"/>
            </a:solidFill>
            <a:prstDash val="solid"/>
          </a:ln>
        </p:spPr>
      </p:sp>
      <p:sp>
        <p:nvSpPr>
          <p:cNvPr id="22" name="Text 20"/>
          <p:cNvSpPr/>
          <p:nvPr/>
        </p:nvSpPr>
        <p:spPr>
          <a:xfrm>
            <a:off x="3291840" y="2185416"/>
            <a:ext cx="2423160" cy="274320"/>
          </a:xfrm>
          <a:prstGeom prst="rect">
            <a:avLst/>
          </a:prstGeom>
          <a:noFill/>
          <a:ln/>
        </p:spPr>
        <p:txBody>
          <a:bodyPr wrap="square" rtlCol="0" anchor="ctr"/>
          <a:lstStyle/>
          <a:p>
            <a:pPr indent="0" marL="0">
              <a:buNone/>
            </a:pPr>
            <a:r>
              <a:rPr lang="en-US" sz="1300" b="1" dirty="0">
                <a:solidFill>
                  <a:srgbClr val="7C3AED"/>
                </a:solidFill>
                <a:latin typeface="Consolas" pitchFamily="34" charset="0"/>
                <a:ea typeface="Consolas" pitchFamily="34" charset="-122"/>
                <a:cs typeface="Consolas" pitchFamily="34" charset="-120"/>
              </a:rPr>
              <a:t>clear()</a:t>
            </a:r>
            <a:endParaRPr lang="en-US" sz="1300" dirty="0"/>
          </a:p>
        </p:txBody>
      </p:sp>
      <p:sp>
        <p:nvSpPr>
          <p:cNvPr id="23" name="Text 21"/>
          <p:cNvSpPr/>
          <p:nvPr/>
        </p:nvSpPr>
        <p:spPr>
          <a:xfrm>
            <a:off x="3291840" y="2560320"/>
            <a:ext cx="2423160" cy="548640"/>
          </a:xfrm>
          <a:prstGeom prst="rect">
            <a:avLst/>
          </a:prstGeom>
          <a:noFill/>
          <a:ln/>
        </p:spPr>
        <p:txBody>
          <a:bodyPr wrap="square" rtlCol="0" anchor="ctr"/>
          <a:lstStyle/>
          <a:p>
            <a:pPr indent="0" marL="0">
              <a:buNone/>
            </a:pPr>
            <a:r>
              <a:rPr lang="en-US" sz="1200" dirty="0">
                <a:solidFill>
                  <a:srgbClr val="1E293B"/>
                </a:solidFill>
              </a:rPr>
              <a:t>Remove all items</a:t>
            </a:r>
            <a:endParaRPr lang="en-US" sz="1200" dirty="0"/>
          </a:p>
        </p:txBody>
      </p:sp>
      <p:sp>
        <p:nvSpPr>
          <p:cNvPr id="24" name="Shape 22"/>
          <p:cNvSpPr/>
          <p:nvPr/>
        </p:nvSpPr>
        <p:spPr>
          <a:xfrm>
            <a:off x="6035040" y="214884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25" name="Shape 23"/>
          <p:cNvSpPr/>
          <p:nvPr/>
        </p:nvSpPr>
        <p:spPr>
          <a:xfrm>
            <a:off x="6035040" y="2148840"/>
            <a:ext cx="2606040" cy="347472"/>
          </a:xfrm>
          <a:prstGeom prst="rect">
            <a:avLst/>
          </a:prstGeom>
          <a:solidFill>
            <a:srgbClr val="EDE9FE"/>
          </a:solidFill>
          <a:ln w="12700">
            <a:solidFill>
              <a:srgbClr val="EDE9FE"/>
            </a:solidFill>
            <a:prstDash val="solid"/>
          </a:ln>
        </p:spPr>
      </p:sp>
      <p:sp>
        <p:nvSpPr>
          <p:cNvPr id="26" name="Text 24"/>
          <p:cNvSpPr/>
          <p:nvPr/>
        </p:nvSpPr>
        <p:spPr>
          <a:xfrm>
            <a:off x="6126480" y="2185416"/>
            <a:ext cx="2423160" cy="274320"/>
          </a:xfrm>
          <a:prstGeom prst="rect">
            <a:avLst/>
          </a:prstGeom>
          <a:noFill/>
          <a:ln/>
        </p:spPr>
        <p:txBody>
          <a:bodyPr wrap="square" rtlCol="0" anchor="ctr"/>
          <a:lstStyle/>
          <a:p>
            <a:pPr indent="0" marL="0">
              <a:buNone/>
            </a:pPr>
            <a:r>
              <a:rPr lang="en-US" sz="1300" b="1" dirty="0">
                <a:solidFill>
                  <a:srgbClr val="7C3AED"/>
                </a:solidFill>
                <a:latin typeface="Consolas" pitchFamily="34" charset="0"/>
                <a:ea typeface="Consolas" pitchFamily="34" charset="-122"/>
                <a:cs typeface="Consolas" pitchFamily="34" charset="-120"/>
              </a:rPr>
              <a:t>union()</a:t>
            </a:r>
            <a:endParaRPr lang="en-US" sz="1300" dirty="0"/>
          </a:p>
        </p:txBody>
      </p:sp>
      <p:sp>
        <p:nvSpPr>
          <p:cNvPr id="27" name="Text 25"/>
          <p:cNvSpPr/>
          <p:nvPr/>
        </p:nvSpPr>
        <p:spPr>
          <a:xfrm>
            <a:off x="6126480" y="2560320"/>
            <a:ext cx="2423160" cy="548640"/>
          </a:xfrm>
          <a:prstGeom prst="rect">
            <a:avLst/>
          </a:prstGeom>
          <a:noFill/>
          <a:ln/>
        </p:spPr>
        <p:txBody>
          <a:bodyPr wrap="square" rtlCol="0" anchor="ctr"/>
          <a:lstStyle/>
          <a:p>
            <a:pPr indent="0" marL="0">
              <a:buNone/>
            </a:pPr>
            <a:r>
              <a:rPr lang="en-US" sz="1200" dirty="0">
                <a:solidFill>
                  <a:srgbClr val="1E293B"/>
                </a:solidFill>
              </a:rPr>
              <a:t>Combine two sets</a:t>
            </a:r>
            <a:endParaRPr lang="en-US" sz="1200" dirty="0"/>
          </a:p>
        </p:txBody>
      </p:sp>
      <p:sp>
        <p:nvSpPr>
          <p:cNvPr id="28" name="Shape 26"/>
          <p:cNvSpPr/>
          <p:nvPr/>
        </p:nvSpPr>
        <p:spPr>
          <a:xfrm>
            <a:off x="365760" y="338328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29" name="Shape 27"/>
          <p:cNvSpPr/>
          <p:nvPr/>
        </p:nvSpPr>
        <p:spPr>
          <a:xfrm>
            <a:off x="365760" y="3383280"/>
            <a:ext cx="2606040" cy="347472"/>
          </a:xfrm>
          <a:prstGeom prst="rect">
            <a:avLst/>
          </a:prstGeom>
          <a:solidFill>
            <a:srgbClr val="EDE9FE"/>
          </a:solidFill>
          <a:ln w="12700">
            <a:solidFill>
              <a:srgbClr val="EDE9FE"/>
            </a:solidFill>
            <a:prstDash val="solid"/>
          </a:ln>
        </p:spPr>
      </p:sp>
      <p:sp>
        <p:nvSpPr>
          <p:cNvPr id="30" name="Text 28"/>
          <p:cNvSpPr/>
          <p:nvPr/>
        </p:nvSpPr>
        <p:spPr>
          <a:xfrm>
            <a:off x="457200" y="3419856"/>
            <a:ext cx="2423160" cy="274320"/>
          </a:xfrm>
          <a:prstGeom prst="rect">
            <a:avLst/>
          </a:prstGeom>
          <a:noFill/>
          <a:ln/>
        </p:spPr>
        <p:txBody>
          <a:bodyPr wrap="square" rtlCol="0" anchor="ctr"/>
          <a:lstStyle/>
          <a:p>
            <a:pPr indent="0" marL="0">
              <a:buNone/>
            </a:pPr>
            <a:r>
              <a:rPr lang="en-US" sz="1300" b="1" dirty="0">
                <a:solidFill>
                  <a:srgbClr val="7C3AED"/>
                </a:solidFill>
                <a:latin typeface="Consolas" pitchFamily="34" charset="0"/>
                <a:ea typeface="Consolas" pitchFamily="34" charset="-122"/>
                <a:cs typeface="Consolas" pitchFamily="34" charset="-120"/>
              </a:rPr>
              <a:t>intersection()</a:t>
            </a:r>
            <a:endParaRPr lang="en-US" sz="1300" dirty="0"/>
          </a:p>
        </p:txBody>
      </p:sp>
      <p:sp>
        <p:nvSpPr>
          <p:cNvPr id="31" name="Text 29"/>
          <p:cNvSpPr/>
          <p:nvPr/>
        </p:nvSpPr>
        <p:spPr>
          <a:xfrm>
            <a:off x="457200" y="3794760"/>
            <a:ext cx="2423160" cy="548640"/>
          </a:xfrm>
          <a:prstGeom prst="rect">
            <a:avLst/>
          </a:prstGeom>
          <a:noFill/>
          <a:ln/>
        </p:spPr>
        <p:txBody>
          <a:bodyPr wrap="square" rtlCol="0" anchor="ctr"/>
          <a:lstStyle/>
          <a:p>
            <a:pPr indent="0" marL="0">
              <a:buNone/>
            </a:pPr>
            <a:r>
              <a:rPr lang="en-US" sz="1200" dirty="0">
                <a:solidFill>
                  <a:srgbClr val="1E293B"/>
                </a:solidFill>
              </a:rPr>
              <a:t>Items in both sets</a:t>
            </a:r>
            <a:endParaRPr lang="en-US" sz="1200" dirty="0"/>
          </a:p>
        </p:txBody>
      </p:sp>
      <p:sp>
        <p:nvSpPr>
          <p:cNvPr id="32" name="Shape 30"/>
          <p:cNvSpPr/>
          <p:nvPr/>
        </p:nvSpPr>
        <p:spPr>
          <a:xfrm>
            <a:off x="3200400" y="338328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33" name="Shape 31"/>
          <p:cNvSpPr/>
          <p:nvPr/>
        </p:nvSpPr>
        <p:spPr>
          <a:xfrm>
            <a:off x="3200400" y="3383280"/>
            <a:ext cx="2606040" cy="347472"/>
          </a:xfrm>
          <a:prstGeom prst="rect">
            <a:avLst/>
          </a:prstGeom>
          <a:solidFill>
            <a:srgbClr val="EDE9FE"/>
          </a:solidFill>
          <a:ln w="12700">
            <a:solidFill>
              <a:srgbClr val="EDE9FE"/>
            </a:solidFill>
            <a:prstDash val="solid"/>
          </a:ln>
        </p:spPr>
      </p:sp>
      <p:sp>
        <p:nvSpPr>
          <p:cNvPr id="34" name="Text 32"/>
          <p:cNvSpPr/>
          <p:nvPr/>
        </p:nvSpPr>
        <p:spPr>
          <a:xfrm>
            <a:off x="3291840" y="3419856"/>
            <a:ext cx="2423160" cy="274320"/>
          </a:xfrm>
          <a:prstGeom prst="rect">
            <a:avLst/>
          </a:prstGeom>
          <a:noFill/>
          <a:ln/>
        </p:spPr>
        <p:txBody>
          <a:bodyPr wrap="square" rtlCol="0" anchor="ctr"/>
          <a:lstStyle/>
          <a:p>
            <a:pPr indent="0" marL="0">
              <a:buNone/>
            </a:pPr>
            <a:r>
              <a:rPr lang="en-US" sz="1300" b="1" dirty="0">
                <a:solidFill>
                  <a:srgbClr val="7C3AED"/>
                </a:solidFill>
                <a:latin typeface="Consolas" pitchFamily="34" charset="0"/>
                <a:ea typeface="Consolas" pitchFamily="34" charset="-122"/>
                <a:cs typeface="Consolas" pitchFamily="34" charset="-120"/>
              </a:rPr>
              <a:t>difference()</a:t>
            </a:r>
            <a:endParaRPr lang="en-US" sz="1300" dirty="0"/>
          </a:p>
        </p:txBody>
      </p:sp>
      <p:sp>
        <p:nvSpPr>
          <p:cNvPr id="35" name="Text 33"/>
          <p:cNvSpPr/>
          <p:nvPr/>
        </p:nvSpPr>
        <p:spPr>
          <a:xfrm>
            <a:off x="3291840" y="3794760"/>
            <a:ext cx="2423160" cy="548640"/>
          </a:xfrm>
          <a:prstGeom prst="rect">
            <a:avLst/>
          </a:prstGeom>
          <a:noFill/>
          <a:ln/>
        </p:spPr>
        <p:txBody>
          <a:bodyPr wrap="square" rtlCol="0" anchor="ctr"/>
          <a:lstStyle/>
          <a:p>
            <a:pPr indent="0" marL="0">
              <a:buNone/>
            </a:pPr>
            <a:r>
              <a:rPr lang="en-US" sz="1200" dirty="0">
                <a:solidFill>
                  <a:srgbClr val="1E293B"/>
                </a:solidFill>
              </a:rPr>
              <a:t>Items in one, not the other</a:t>
            </a:r>
            <a:endParaRPr lang="en-US" sz="1200" dirty="0"/>
          </a:p>
        </p:txBody>
      </p:sp>
      <p:sp>
        <p:nvSpPr>
          <p:cNvPr id="36" name="Shape 34"/>
          <p:cNvSpPr/>
          <p:nvPr/>
        </p:nvSpPr>
        <p:spPr>
          <a:xfrm>
            <a:off x="6035040" y="338328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37" name="Shape 35"/>
          <p:cNvSpPr/>
          <p:nvPr/>
        </p:nvSpPr>
        <p:spPr>
          <a:xfrm>
            <a:off x="6035040" y="3383280"/>
            <a:ext cx="2606040" cy="347472"/>
          </a:xfrm>
          <a:prstGeom prst="rect">
            <a:avLst/>
          </a:prstGeom>
          <a:solidFill>
            <a:srgbClr val="EDE9FE"/>
          </a:solidFill>
          <a:ln w="12700">
            <a:solidFill>
              <a:srgbClr val="EDE9FE"/>
            </a:solidFill>
            <a:prstDash val="solid"/>
          </a:ln>
        </p:spPr>
      </p:sp>
      <p:sp>
        <p:nvSpPr>
          <p:cNvPr id="38" name="Text 36"/>
          <p:cNvSpPr/>
          <p:nvPr/>
        </p:nvSpPr>
        <p:spPr>
          <a:xfrm>
            <a:off x="6126480" y="3419856"/>
            <a:ext cx="2423160" cy="274320"/>
          </a:xfrm>
          <a:prstGeom prst="rect">
            <a:avLst/>
          </a:prstGeom>
          <a:noFill/>
          <a:ln/>
        </p:spPr>
        <p:txBody>
          <a:bodyPr wrap="square" rtlCol="0" anchor="ctr"/>
          <a:lstStyle/>
          <a:p>
            <a:pPr indent="0" marL="0">
              <a:buNone/>
            </a:pPr>
            <a:r>
              <a:rPr lang="en-US" sz="1300" b="1" dirty="0">
                <a:solidFill>
                  <a:srgbClr val="7C3AED"/>
                </a:solidFill>
                <a:latin typeface="Consolas" pitchFamily="34" charset="0"/>
                <a:ea typeface="Consolas" pitchFamily="34" charset="-122"/>
                <a:cs typeface="Consolas" pitchFamily="34" charset="-120"/>
              </a:rPr>
              <a:t>issubset()</a:t>
            </a:r>
            <a:endParaRPr lang="en-US" sz="1300" dirty="0"/>
          </a:p>
        </p:txBody>
      </p:sp>
      <p:sp>
        <p:nvSpPr>
          <p:cNvPr id="39" name="Text 37"/>
          <p:cNvSpPr/>
          <p:nvPr/>
        </p:nvSpPr>
        <p:spPr>
          <a:xfrm>
            <a:off x="6126480" y="3794760"/>
            <a:ext cx="2423160" cy="548640"/>
          </a:xfrm>
          <a:prstGeom prst="rect">
            <a:avLst/>
          </a:prstGeom>
          <a:noFill/>
          <a:ln/>
        </p:spPr>
        <p:txBody>
          <a:bodyPr wrap="square" rtlCol="0" anchor="ctr"/>
          <a:lstStyle/>
          <a:p>
            <a:pPr indent="0" marL="0">
              <a:buNone/>
            </a:pPr>
            <a:r>
              <a:rPr lang="en-US" sz="1200" dirty="0">
                <a:solidFill>
                  <a:srgbClr val="1E293B"/>
                </a:solidFill>
              </a:rPr>
              <a:t>Check if subset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7C3AED"/>
          </a:solidFill>
          <a:ln w="12700">
            <a:solidFill>
              <a:srgbClr val="7C3AED"/>
            </a:solidFill>
            <a:prstDash val="solid"/>
          </a:ln>
        </p:spPr>
      </p:sp>
      <p:sp>
        <p:nvSpPr>
          <p:cNvPr id="3" name="Text 1"/>
          <p:cNvSpPr/>
          <p:nvPr/>
        </p:nvSpPr>
        <p:spPr>
          <a:xfrm>
            <a:off x="457200" y="91440"/>
            <a:ext cx="8229600" cy="594360"/>
          </a:xfrm>
          <a:prstGeom prst="rect">
            <a:avLst/>
          </a:prstGeom>
          <a:noFill/>
          <a:ln/>
        </p:spPr>
        <p:txBody>
          <a:bodyPr wrap="square" rtlCol="0" anchor="ctr"/>
          <a:lstStyle/>
          <a:p>
            <a:pPr indent="0" marL="0">
              <a:buNone/>
            </a:pPr>
            <a:r>
              <a:rPr lang="en-US" sz="2600" b="1" dirty="0">
                <a:solidFill>
                  <a:srgbClr val="FFFFFF"/>
                </a:solidFill>
              </a:rPr>
              <a:t>Set — Strengths &amp; Weaknesses</a:t>
            </a:r>
            <a:endParaRPr lang="en-US" sz="2600" dirty="0"/>
          </a:p>
        </p:txBody>
      </p:sp>
      <p:sp>
        <p:nvSpPr>
          <p:cNvPr id="4" name="Shape 2"/>
          <p:cNvSpPr/>
          <p:nvPr/>
        </p:nvSpPr>
        <p:spPr>
          <a:xfrm>
            <a:off x="365760" y="914400"/>
            <a:ext cx="3931920" cy="3291840"/>
          </a:xfrm>
          <a:prstGeom prst="rect">
            <a:avLst/>
          </a:prstGeom>
          <a:solidFill>
            <a:srgbClr val="FFFFFF"/>
          </a:solidFill>
          <a:ln w="12700">
            <a:solidFill>
              <a:srgbClr val="E2E8F0"/>
            </a:solidFill>
            <a:prstDash val="solid"/>
          </a:ln>
        </p:spPr>
      </p:sp>
      <p:sp>
        <p:nvSpPr>
          <p:cNvPr id="5" name="Shape 3"/>
          <p:cNvSpPr/>
          <p:nvPr/>
        </p:nvSpPr>
        <p:spPr>
          <a:xfrm>
            <a:off x="365760" y="914400"/>
            <a:ext cx="3931920" cy="457200"/>
          </a:xfrm>
          <a:prstGeom prst="rect">
            <a:avLst/>
          </a:prstGeom>
          <a:solidFill>
            <a:srgbClr val="D1FAE5"/>
          </a:solidFill>
          <a:ln w="12700">
            <a:solidFill>
              <a:srgbClr val="D1FAE5"/>
            </a:solidFill>
            <a:prstDash val="solid"/>
          </a:ln>
        </p:spPr>
      </p:sp>
      <p:sp>
        <p:nvSpPr>
          <p:cNvPr id="6" name="Text 4"/>
          <p:cNvSpPr/>
          <p:nvPr/>
        </p:nvSpPr>
        <p:spPr>
          <a:xfrm>
            <a:off x="502920" y="960120"/>
            <a:ext cx="3657600" cy="365760"/>
          </a:xfrm>
          <a:prstGeom prst="rect">
            <a:avLst/>
          </a:prstGeom>
          <a:noFill/>
          <a:ln/>
        </p:spPr>
        <p:txBody>
          <a:bodyPr wrap="square" rtlCol="0" anchor="ctr"/>
          <a:lstStyle/>
          <a:p>
            <a:pPr indent="0" marL="0">
              <a:buNone/>
            </a:pPr>
            <a:r>
              <a:rPr lang="en-US" sz="1400" b="1" dirty="0">
                <a:solidFill>
                  <a:srgbClr val="059669"/>
                </a:solidFill>
              </a:rPr>
              <a:t>✅  Strengths</a:t>
            </a:r>
            <a:endParaRPr lang="en-US" sz="1400" dirty="0"/>
          </a:p>
        </p:txBody>
      </p:sp>
      <p:sp>
        <p:nvSpPr>
          <p:cNvPr id="7" name="Text 5"/>
          <p:cNvSpPr/>
          <p:nvPr/>
        </p:nvSpPr>
        <p:spPr>
          <a:xfrm>
            <a:off x="502920" y="1463040"/>
            <a:ext cx="3611880" cy="2560320"/>
          </a:xfrm>
          <a:prstGeom prst="rect">
            <a:avLst/>
          </a:prstGeom>
          <a:noFill/>
          <a:ln/>
        </p:spPr>
        <p:txBody>
          <a:bodyPr wrap="square" rtlCol="0" anchor="ctr"/>
          <a:lstStyle/>
          <a:p>
            <a:pPr marL="342900" indent="-342900">
              <a:buSzPct val="100000"/>
              <a:buChar char="•"/>
            </a:pPr>
            <a:r>
              <a:rPr lang="en-US" sz="1300" dirty="0">
                <a:solidFill>
                  <a:srgbClr val="1E293B"/>
                </a:solidFill>
              </a:rPr>
              <a:t>Auto-removes duplicates</a:t>
            </a:r>
            <a:endParaRPr lang="en-US" sz="1300" dirty="0"/>
          </a:p>
          <a:p>
            <a:pPr marL="342900" indent="-342900">
              <a:buSzPct val="100000"/>
              <a:buChar char="•"/>
            </a:pPr>
            <a:r>
              <a:rPr lang="en-US" sz="1300" dirty="0">
                <a:solidFill>
                  <a:srgbClr val="1E293B"/>
                </a:solidFill>
              </a:rPr>
              <a:t>Very fast membership check</a:t>
            </a:r>
            <a:endParaRPr lang="en-US" sz="1300" dirty="0"/>
          </a:p>
          <a:p>
            <a:pPr marL="342900" indent="-342900">
              <a:buSzPct val="100000"/>
              <a:buChar char="•"/>
            </a:pPr>
            <a:r>
              <a:rPr lang="en-US" sz="1300" dirty="0">
                <a:solidFill>
                  <a:srgbClr val="1E293B"/>
                </a:solidFill>
              </a:rPr>
              <a:t>Supports set operations (union, intersect, diff)</a:t>
            </a:r>
            <a:endParaRPr lang="en-US" sz="1300" dirty="0"/>
          </a:p>
          <a:p>
            <a:pPr marL="342900" indent="-342900">
              <a:buSzPct val="100000"/>
              <a:buChar char="•"/>
            </a:pPr>
            <a:r>
              <a:rPr lang="en-US" sz="1300" dirty="0">
                <a:solidFill>
                  <a:srgbClr val="1E293B"/>
                </a:solidFill>
              </a:rPr>
              <a:t>Great for emails, IDs, tags</a:t>
            </a:r>
            <a:endParaRPr lang="en-US" sz="1300" dirty="0"/>
          </a:p>
        </p:txBody>
      </p:sp>
      <p:sp>
        <p:nvSpPr>
          <p:cNvPr id="8" name="Shape 6"/>
          <p:cNvSpPr/>
          <p:nvPr/>
        </p:nvSpPr>
        <p:spPr>
          <a:xfrm>
            <a:off x="4846320" y="914400"/>
            <a:ext cx="3931920" cy="3291840"/>
          </a:xfrm>
          <a:prstGeom prst="rect">
            <a:avLst/>
          </a:prstGeom>
          <a:solidFill>
            <a:srgbClr val="FFFFFF"/>
          </a:solidFill>
          <a:ln w="12700">
            <a:solidFill>
              <a:srgbClr val="E2E8F0"/>
            </a:solidFill>
            <a:prstDash val="solid"/>
          </a:ln>
        </p:spPr>
      </p:sp>
      <p:sp>
        <p:nvSpPr>
          <p:cNvPr id="9" name="Shape 7"/>
          <p:cNvSpPr/>
          <p:nvPr/>
        </p:nvSpPr>
        <p:spPr>
          <a:xfrm>
            <a:off x="4846320" y="914400"/>
            <a:ext cx="3931920" cy="457200"/>
          </a:xfrm>
          <a:prstGeom prst="rect">
            <a:avLst/>
          </a:prstGeom>
          <a:solidFill>
            <a:srgbClr val="FEE2E2"/>
          </a:solidFill>
          <a:ln w="12700">
            <a:solidFill>
              <a:srgbClr val="FEE2E2"/>
            </a:solidFill>
            <a:prstDash val="solid"/>
          </a:ln>
        </p:spPr>
      </p:sp>
      <p:sp>
        <p:nvSpPr>
          <p:cNvPr id="10" name="Text 8"/>
          <p:cNvSpPr/>
          <p:nvPr/>
        </p:nvSpPr>
        <p:spPr>
          <a:xfrm>
            <a:off x="4983480" y="960120"/>
            <a:ext cx="3657600" cy="365760"/>
          </a:xfrm>
          <a:prstGeom prst="rect">
            <a:avLst/>
          </a:prstGeom>
          <a:noFill/>
          <a:ln/>
        </p:spPr>
        <p:txBody>
          <a:bodyPr wrap="square" rtlCol="0" anchor="ctr"/>
          <a:lstStyle/>
          <a:p>
            <a:pPr indent="0" marL="0">
              <a:buNone/>
            </a:pPr>
            <a:r>
              <a:rPr lang="en-US" sz="1400" b="1" dirty="0">
                <a:solidFill>
                  <a:srgbClr val="B91C1C"/>
                </a:solidFill>
              </a:rPr>
              <a:t>⚠️  Weaknesses</a:t>
            </a:r>
            <a:endParaRPr lang="en-US" sz="1400" dirty="0"/>
          </a:p>
        </p:txBody>
      </p:sp>
      <p:sp>
        <p:nvSpPr>
          <p:cNvPr id="11" name="Text 9"/>
          <p:cNvSpPr/>
          <p:nvPr/>
        </p:nvSpPr>
        <p:spPr>
          <a:xfrm>
            <a:off x="4983480" y="1463040"/>
            <a:ext cx="3611880" cy="2560320"/>
          </a:xfrm>
          <a:prstGeom prst="rect">
            <a:avLst/>
          </a:prstGeom>
          <a:noFill/>
          <a:ln/>
        </p:spPr>
        <p:txBody>
          <a:bodyPr wrap="square" rtlCol="0" anchor="ctr"/>
          <a:lstStyle/>
          <a:p>
            <a:pPr marL="342900" indent="-342900">
              <a:buSzPct val="100000"/>
              <a:buChar char="•"/>
            </a:pPr>
            <a:r>
              <a:rPr lang="en-US" sz="1300" dirty="0">
                <a:solidFill>
                  <a:srgbClr val="1E293B"/>
                </a:solidFill>
              </a:rPr>
              <a:t>No guaranteed order</a:t>
            </a:r>
            <a:endParaRPr lang="en-US" sz="1300" dirty="0"/>
          </a:p>
          <a:p>
            <a:pPr marL="342900" indent="-342900">
              <a:buSzPct val="100000"/>
              <a:buChar char="•"/>
            </a:pPr>
            <a:r>
              <a:rPr lang="en-US" sz="1300" dirty="0">
                <a:solidFill>
                  <a:srgbClr val="1E293B"/>
                </a:solidFill>
              </a:rPr>
              <a:t>Cannot access by index</a:t>
            </a:r>
            <a:endParaRPr lang="en-US" sz="1300" dirty="0"/>
          </a:p>
          <a:p>
            <a:pPr marL="342900" indent="-342900">
              <a:buSzPct val="100000"/>
              <a:buChar char="•"/>
            </a:pPr>
            <a:r>
              <a:rPr lang="en-US" sz="1300" dirty="0">
                <a:solidFill>
                  <a:srgbClr val="1E293B"/>
                </a:solidFill>
              </a:rPr>
              <a:t>Bad if order matters</a:t>
            </a:r>
            <a:endParaRPr lang="en-US" sz="1300" dirty="0"/>
          </a:p>
          <a:p>
            <a:pPr marL="342900" indent="-342900">
              <a:buSzPct val="100000"/>
              <a:buChar char="•"/>
            </a:pPr>
            <a:r>
              <a:rPr lang="en-US" sz="1300" dirty="0">
                <a:solidFill>
                  <a:srgbClr val="1E293B"/>
                </a:solidFill>
              </a:rPr>
              <a:t>Cannot store unhashable types (e.g. list inside set)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D97706"/>
          </a:solidFill>
          <a:ln w="12700">
            <a:solidFill>
              <a:srgbClr val="D97706"/>
            </a:solidFill>
            <a:prstDash val="solid"/>
          </a:ln>
        </p:spPr>
      </p:sp>
      <p:pic>
        <p:nvPicPr>
          <p:cNvPr id="3" name="Image 0" descr="preencoded.png">    </p:cNvPr>
          <p:cNvPicPr>
            <a:picLocks noChangeAspect="1"/>
          </p:cNvPicPr>
          <p:nvPr/>
        </p:nvPicPr>
        <p:blipFill>
          <a:blip r:embed="rId1"/>
          <a:stretch>
            <a:fillRect/>
          </a:stretch>
        </p:blipFill>
        <p:spPr>
          <a:xfrm>
            <a:off x="320040" y="164592"/>
            <a:ext cx="548640" cy="548640"/>
          </a:xfrm>
          <a:prstGeom prst="rect">
            <a:avLst/>
          </a:prstGeom>
        </p:spPr>
      </p:pic>
      <p:sp>
        <p:nvSpPr>
          <p:cNvPr id="4" name="Text 1"/>
          <p:cNvSpPr/>
          <p:nvPr/>
        </p:nvSpPr>
        <p:spPr>
          <a:xfrm>
            <a:off x="1005840" y="137160"/>
            <a:ext cx="7772400" cy="640080"/>
          </a:xfrm>
          <a:prstGeom prst="rect">
            <a:avLst/>
          </a:prstGeom>
          <a:noFill/>
          <a:ln/>
        </p:spPr>
        <p:txBody>
          <a:bodyPr wrap="square" rtlCol="0" anchor="ctr"/>
          <a:lstStyle/>
          <a:p>
            <a:pPr indent="0" marL="0">
              <a:buNone/>
            </a:pPr>
            <a:r>
              <a:rPr lang="en-US" sz="2600" b="1" dirty="0">
                <a:solidFill>
                  <a:srgbClr val="FFFFFF"/>
                </a:solidFill>
              </a:rPr>
              <a:t>Dictionary — Key-Value Pairs</a:t>
            </a:r>
            <a:endParaRPr lang="en-US" sz="2600" dirty="0"/>
          </a:p>
        </p:txBody>
      </p:sp>
      <p:sp>
        <p:nvSpPr>
          <p:cNvPr id="5" name="Text 2"/>
          <p:cNvSpPr/>
          <p:nvPr/>
        </p:nvSpPr>
        <p:spPr>
          <a:xfrm>
            <a:off x="457200" y="1051560"/>
            <a:ext cx="8229600" cy="502920"/>
          </a:xfrm>
          <a:prstGeom prst="rect">
            <a:avLst/>
          </a:prstGeom>
          <a:noFill/>
          <a:ln/>
        </p:spPr>
        <p:txBody>
          <a:bodyPr wrap="square" rtlCol="0" anchor="ctr"/>
          <a:lstStyle/>
          <a:p>
            <a:pPr indent="0" marL="0">
              <a:buNone/>
            </a:pPr>
            <a:r>
              <a:rPr lang="en-US" sz="1500" dirty="0">
                <a:solidFill>
                  <a:srgbClr val="64748B"/>
                </a:solidFill>
              </a:rPr>
              <a:t>A Dictionary stores data as key-value pairs — like a real dictionary: word → definition.</a:t>
            </a:r>
            <a:endParaRPr lang="en-US" sz="1500" dirty="0"/>
          </a:p>
        </p:txBody>
      </p:sp>
      <p:sp>
        <p:nvSpPr>
          <p:cNvPr id="6" name="Shape 3"/>
          <p:cNvSpPr/>
          <p:nvPr/>
        </p:nvSpPr>
        <p:spPr>
          <a:xfrm>
            <a:off x="457200" y="1600200"/>
            <a:ext cx="5303520" cy="1828800"/>
          </a:xfrm>
          <a:prstGeom prst="rect">
            <a:avLst>
              <a:gd name="adj" fmla="val 4000"/>
            </a:avLst>
          </a:prstGeom>
          <a:solidFill>
            <a:srgbClr val="1E293B"/>
          </a:solidFill>
          <a:ln w="12700">
            <a:solidFill>
              <a:srgbClr val="1E293B"/>
            </a:solidFill>
            <a:prstDash val="solid"/>
          </a:ln>
        </p:spPr>
      </p:sp>
      <p:sp>
        <p:nvSpPr>
          <p:cNvPr id="7" name="Text 4"/>
          <p:cNvSpPr/>
          <p:nvPr/>
        </p:nvSpPr>
        <p:spPr>
          <a:xfrm>
            <a:off x="640080" y="1664208"/>
            <a:ext cx="4937760" cy="1600200"/>
          </a:xfrm>
          <a:prstGeom prst="rect">
            <a:avLst/>
          </a:prstGeom>
          <a:noFill/>
          <a:ln/>
        </p:spPr>
        <p:txBody>
          <a:bodyPr wrap="square" rtlCol="0" anchor="ctr"/>
          <a:lstStyle/>
          <a:p>
            <a:pPr indent="0" marL="0">
              <a:buNone/>
            </a:pPr>
            <a:r>
              <a:rPr lang="en-US" sz="1200" dirty="0">
                <a:solidFill>
                  <a:srgbClr val="93C5FD"/>
                </a:solidFill>
                <a:latin typeface="Consolas" pitchFamily="34" charset="0"/>
                <a:ea typeface="Consolas" pitchFamily="34" charset="-122"/>
                <a:cs typeface="Consolas" pitchFamily="34" charset="-120"/>
              </a:rPr>
              <a:t>student </a:t>
            </a:r>
            <a:pPr indent="0" marL="0">
              <a:buNone/>
            </a:pPr>
            <a:r>
              <a:rPr lang="en-US" sz="1200" dirty="0">
                <a:solidFill>
                  <a:srgbClr val="E5E7EB"/>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FCA5A5"/>
                </a:solidFill>
                <a:latin typeface="Consolas" pitchFamily="34" charset="0"/>
                <a:ea typeface="Consolas" pitchFamily="34" charset="-122"/>
                <a:cs typeface="Consolas" pitchFamily="34" charset="-120"/>
              </a:rPr>
              <a:t>    "id"</a:t>
            </a:r>
            <a:pPr indent="0" marL="0">
              <a:buNone/>
            </a:pPr>
            <a:r>
              <a:rPr lang="en-US" sz="1200" dirty="0">
                <a:solidFill>
                  <a:srgbClr val="E5E7EB"/>
                </a:solidFill>
                <a:latin typeface="Consolas" pitchFamily="34" charset="0"/>
                <a:ea typeface="Consolas" pitchFamily="34" charset="-122"/>
                <a:cs typeface="Consolas" pitchFamily="34" charset="-120"/>
              </a:rPr>
              <a:t>: </a:t>
            </a:r>
            <a:pPr indent="0" marL="0">
              <a:buNone/>
            </a:pPr>
            <a:r>
              <a:rPr lang="en-US" sz="1200" dirty="0">
                <a:solidFill>
                  <a:srgbClr val="86EFAC"/>
                </a:solidFill>
                <a:latin typeface="Consolas" pitchFamily="34" charset="0"/>
                <a:ea typeface="Consolas" pitchFamily="34" charset="-122"/>
                <a:cs typeface="Consolas" pitchFamily="34" charset="-120"/>
              </a:rPr>
              <a:t>"SE190722"</a:t>
            </a:r>
            <a:endParaRPr lang="en-US" sz="1200" dirty="0"/>
          </a:p>
          <a:p>
            <a:pPr indent="0" marL="0">
              <a:buNone/>
            </a:pPr>
            <a:r>
              <a:rPr lang="en-US" sz="1200" dirty="0">
                <a:solidFill>
                  <a:srgbClr val="FCA5A5"/>
                </a:solidFill>
                <a:latin typeface="Consolas" pitchFamily="34" charset="0"/>
                <a:ea typeface="Consolas" pitchFamily="34" charset="-122"/>
                <a:cs typeface="Consolas" pitchFamily="34" charset="-120"/>
              </a:rPr>
              <a:t>    "name"</a:t>
            </a:r>
            <a:pPr indent="0" marL="0">
              <a:buNone/>
            </a:pPr>
            <a:r>
              <a:rPr lang="en-US" sz="1200" dirty="0">
                <a:solidFill>
                  <a:srgbClr val="E5E7EB"/>
                </a:solidFill>
                <a:latin typeface="Consolas" pitchFamily="34" charset="0"/>
                <a:ea typeface="Consolas" pitchFamily="34" charset="-122"/>
                <a:cs typeface="Consolas" pitchFamily="34" charset="-120"/>
              </a:rPr>
              <a:t>: </a:t>
            </a:r>
            <a:pPr indent="0" marL="0">
              <a:buNone/>
            </a:pPr>
            <a:r>
              <a:rPr lang="en-US" sz="1200" dirty="0">
                <a:solidFill>
                  <a:srgbClr val="86EFAC"/>
                </a:solidFill>
                <a:latin typeface="Consolas" pitchFamily="34" charset="0"/>
                <a:ea typeface="Consolas" pitchFamily="34" charset="-122"/>
                <a:cs typeface="Consolas" pitchFamily="34" charset="-120"/>
              </a:rPr>
              <a:t>"Thuận"</a:t>
            </a:r>
            <a:endParaRPr lang="en-US" sz="1200" dirty="0"/>
          </a:p>
          <a:p>
            <a:pPr indent="0" marL="0">
              <a:buNone/>
            </a:pPr>
            <a:r>
              <a:rPr lang="en-US" sz="1200" dirty="0">
                <a:solidFill>
                  <a:srgbClr val="FCA5A5"/>
                </a:solidFill>
                <a:latin typeface="Consolas" pitchFamily="34" charset="0"/>
                <a:ea typeface="Consolas" pitchFamily="34" charset="-122"/>
                <a:cs typeface="Consolas" pitchFamily="34" charset="-120"/>
              </a:rPr>
              <a:t>    "major"</a:t>
            </a:r>
            <a:pPr indent="0" marL="0">
              <a:buNone/>
            </a:pPr>
            <a:r>
              <a:rPr lang="en-US" sz="1200" dirty="0">
                <a:solidFill>
                  <a:srgbClr val="E5E7EB"/>
                </a:solidFill>
                <a:latin typeface="Consolas" pitchFamily="34" charset="0"/>
                <a:ea typeface="Consolas" pitchFamily="34" charset="-122"/>
                <a:cs typeface="Consolas" pitchFamily="34" charset="-120"/>
              </a:rPr>
              <a:t>: </a:t>
            </a:r>
            <a:pPr indent="0" marL="0">
              <a:buNone/>
            </a:pPr>
            <a:r>
              <a:rPr lang="en-US" sz="1200" dirty="0">
                <a:solidFill>
                  <a:srgbClr val="86EFAC"/>
                </a:solidFill>
                <a:latin typeface="Consolas" pitchFamily="34" charset="0"/>
                <a:ea typeface="Consolas" pitchFamily="34" charset="-122"/>
                <a:cs typeface="Consolas" pitchFamily="34" charset="-120"/>
              </a:rPr>
              <a:t>"Software Engineering"</a:t>
            </a:r>
            <a:endParaRPr lang="en-US" sz="1200" dirty="0"/>
          </a:p>
          <a:p>
            <a:pPr indent="0" marL="0">
              <a:buNone/>
            </a:pPr>
            <a:r>
              <a:rPr lang="en-US" sz="1200" dirty="0">
                <a:solidFill>
                  <a:srgbClr val="E5E7EB"/>
                </a:solidFill>
                <a:latin typeface="Consolas" pitchFamily="34" charset="0"/>
                <a:ea typeface="Consolas" pitchFamily="34" charset="-122"/>
                <a:cs typeface="Consolas" pitchFamily="34" charset="-120"/>
              </a:rPr>
              <a:t>}</a:t>
            </a:r>
            <a:endParaRPr lang="en-US" sz="1200" dirty="0"/>
          </a:p>
        </p:txBody>
      </p:sp>
      <p:sp>
        <p:nvSpPr>
          <p:cNvPr id="8" name="Shape 5"/>
          <p:cNvSpPr/>
          <p:nvPr/>
        </p:nvSpPr>
        <p:spPr>
          <a:xfrm>
            <a:off x="5943600" y="1600200"/>
            <a:ext cx="2834640" cy="640080"/>
          </a:xfrm>
          <a:prstGeom prst="rect">
            <a:avLst/>
          </a:prstGeom>
          <a:solidFill>
            <a:srgbClr val="FEF3C7"/>
          </a:solidFill>
          <a:ln w="12700">
            <a:solidFill>
              <a:srgbClr val="D97706"/>
            </a:solidFill>
            <a:prstDash val="solid"/>
          </a:ln>
        </p:spPr>
      </p:sp>
      <p:sp>
        <p:nvSpPr>
          <p:cNvPr id="9" name="Text 6"/>
          <p:cNvSpPr/>
          <p:nvPr/>
        </p:nvSpPr>
        <p:spPr>
          <a:xfrm>
            <a:off x="6035040" y="1664208"/>
            <a:ext cx="2651760" cy="502920"/>
          </a:xfrm>
          <a:prstGeom prst="rect">
            <a:avLst/>
          </a:prstGeom>
          <a:noFill/>
          <a:ln/>
        </p:spPr>
        <p:txBody>
          <a:bodyPr wrap="square" rtlCol="0" anchor="ctr"/>
          <a:lstStyle/>
          <a:p>
            <a:pPr indent="0" marL="0">
              <a:buNone/>
            </a:pPr>
            <a:r>
              <a:rPr lang="en-US" sz="1200" b="1" dirty="0">
                <a:solidFill>
                  <a:srgbClr val="92400E"/>
                </a:solidFill>
              </a:rPr>
              <a:t>Keys: "id", "name", "major"</a:t>
            </a:r>
            <a:endParaRPr lang="en-US" sz="1200" dirty="0"/>
          </a:p>
        </p:txBody>
      </p:sp>
      <p:sp>
        <p:nvSpPr>
          <p:cNvPr id="10" name="Shape 7"/>
          <p:cNvSpPr/>
          <p:nvPr/>
        </p:nvSpPr>
        <p:spPr>
          <a:xfrm>
            <a:off x="5943600" y="2377440"/>
            <a:ext cx="2834640" cy="822960"/>
          </a:xfrm>
          <a:prstGeom prst="rect">
            <a:avLst/>
          </a:prstGeom>
          <a:solidFill>
            <a:srgbClr val="D1FAE5"/>
          </a:solidFill>
          <a:ln w="12700">
            <a:solidFill>
              <a:srgbClr val="059669"/>
            </a:solidFill>
            <a:prstDash val="solid"/>
          </a:ln>
        </p:spPr>
      </p:sp>
      <p:sp>
        <p:nvSpPr>
          <p:cNvPr id="11" name="Text 8"/>
          <p:cNvSpPr/>
          <p:nvPr/>
        </p:nvSpPr>
        <p:spPr>
          <a:xfrm>
            <a:off x="6035040" y="2441448"/>
            <a:ext cx="2651760" cy="640080"/>
          </a:xfrm>
          <a:prstGeom prst="rect">
            <a:avLst/>
          </a:prstGeom>
          <a:noFill/>
          <a:ln/>
        </p:spPr>
        <p:txBody>
          <a:bodyPr wrap="square" rtlCol="0" anchor="ctr"/>
          <a:lstStyle/>
          <a:p>
            <a:pPr indent="0" marL="0">
              <a:buNone/>
            </a:pPr>
            <a:r>
              <a:rPr lang="en-US" sz="1200" b="1" dirty="0">
                <a:solidFill>
                  <a:srgbClr val="065F46"/>
                </a:solidFill>
              </a:rPr>
              <a:t>Values: "SE190722", "Thuận", "Software Engineering"</a:t>
            </a:r>
            <a:endParaRPr lang="en-US" sz="1200" dirty="0"/>
          </a:p>
        </p:txBody>
      </p:sp>
      <p:sp>
        <p:nvSpPr>
          <p:cNvPr id="12" name="Shape 9"/>
          <p:cNvSpPr/>
          <p:nvPr/>
        </p:nvSpPr>
        <p:spPr>
          <a:xfrm>
            <a:off x="457200" y="3566160"/>
            <a:ext cx="8229600" cy="777240"/>
          </a:xfrm>
          <a:prstGeom prst="rect">
            <a:avLst/>
          </a:prstGeom>
          <a:solidFill>
            <a:srgbClr val="FEF3C7"/>
          </a:solidFill>
          <a:ln w="12700">
            <a:solidFill>
              <a:srgbClr val="D97706"/>
            </a:solidFill>
            <a:prstDash val="solid"/>
          </a:ln>
        </p:spPr>
      </p:sp>
      <p:sp>
        <p:nvSpPr>
          <p:cNvPr id="13" name="Text 10"/>
          <p:cNvSpPr/>
          <p:nvPr/>
        </p:nvSpPr>
        <p:spPr>
          <a:xfrm>
            <a:off x="594360" y="3630168"/>
            <a:ext cx="7955280" cy="640080"/>
          </a:xfrm>
          <a:prstGeom prst="rect">
            <a:avLst/>
          </a:prstGeom>
          <a:noFill/>
          <a:ln/>
        </p:spPr>
        <p:txBody>
          <a:bodyPr wrap="square" rtlCol="0" anchor="ctr"/>
          <a:lstStyle/>
          <a:p>
            <a:pPr indent="0" marL="0">
              <a:buNone/>
            </a:pPr>
            <a:r>
              <a:rPr lang="en-US" sz="1300" dirty="0">
                <a:solidFill>
                  <a:srgbClr val="78350F"/>
                </a:solidFill>
              </a:rPr>
              <a:t>📒  Best for: Student profiles, user accounts, product info — structured real-world data</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D97706"/>
          </a:solidFill>
          <a:ln w="12700">
            <a:solidFill>
              <a:srgbClr val="D97706"/>
            </a:solidFill>
            <a:prstDash val="solid"/>
          </a:ln>
        </p:spPr>
      </p:sp>
      <p:sp>
        <p:nvSpPr>
          <p:cNvPr id="3" name="Text 1"/>
          <p:cNvSpPr/>
          <p:nvPr/>
        </p:nvSpPr>
        <p:spPr>
          <a:xfrm>
            <a:off x="457200" y="91440"/>
            <a:ext cx="8229600" cy="594360"/>
          </a:xfrm>
          <a:prstGeom prst="rect">
            <a:avLst/>
          </a:prstGeom>
          <a:noFill/>
          <a:ln/>
        </p:spPr>
        <p:txBody>
          <a:bodyPr wrap="square" rtlCol="0" anchor="ctr"/>
          <a:lstStyle/>
          <a:p>
            <a:pPr indent="0" marL="0">
              <a:buNone/>
            </a:pPr>
            <a:r>
              <a:rPr lang="en-US" sz="2600" b="1" dirty="0">
                <a:solidFill>
                  <a:srgbClr val="FFFFFF"/>
                </a:solidFill>
              </a:rPr>
              <a:t>Dictionary — Key Methods</a:t>
            </a:r>
            <a:endParaRPr lang="en-US" sz="2600" dirty="0"/>
          </a:p>
        </p:txBody>
      </p:sp>
      <p:sp>
        <p:nvSpPr>
          <p:cNvPr id="4" name="Shape 2"/>
          <p:cNvSpPr/>
          <p:nvPr/>
        </p:nvSpPr>
        <p:spPr>
          <a:xfrm>
            <a:off x="365760" y="91440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5" name="Shape 3"/>
          <p:cNvSpPr/>
          <p:nvPr/>
        </p:nvSpPr>
        <p:spPr>
          <a:xfrm>
            <a:off x="365760" y="914400"/>
            <a:ext cx="2606040" cy="347472"/>
          </a:xfrm>
          <a:prstGeom prst="rect">
            <a:avLst/>
          </a:prstGeom>
          <a:solidFill>
            <a:srgbClr val="FEF3C7"/>
          </a:solidFill>
          <a:ln w="12700">
            <a:solidFill>
              <a:srgbClr val="FEF3C7"/>
            </a:solidFill>
            <a:prstDash val="solid"/>
          </a:ln>
        </p:spPr>
      </p:sp>
      <p:sp>
        <p:nvSpPr>
          <p:cNvPr id="6" name="Text 4"/>
          <p:cNvSpPr/>
          <p:nvPr/>
        </p:nvSpPr>
        <p:spPr>
          <a:xfrm>
            <a:off x="457200" y="950976"/>
            <a:ext cx="2423160" cy="274320"/>
          </a:xfrm>
          <a:prstGeom prst="rect">
            <a:avLst/>
          </a:prstGeom>
          <a:noFill/>
          <a:ln/>
        </p:spPr>
        <p:txBody>
          <a:bodyPr wrap="square" rtlCol="0" anchor="ctr"/>
          <a:lstStyle/>
          <a:p>
            <a:pPr indent="0" marL="0">
              <a:buNone/>
            </a:pPr>
            <a:r>
              <a:rPr lang="en-US" sz="1300" b="1" dirty="0">
                <a:solidFill>
                  <a:srgbClr val="D97706"/>
                </a:solidFill>
                <a:latin typeface="Consolas" pitchFamily="34" charset="0"/>
                <a:ea typeface="Consolas" pitchFamily="34" charset="-122"/>
                <a:cs typeface="Consolas" pitchFamily="34" charset="-120"/>
              </a:rPr>
              <a:t>keys()</a:t>
            </a:r>
            <a:endParaRPr lang="en-US" sz="1300" dirty="0"/>
          </a:p>
        </p:txBody>
      </p:sp>
      <p:sp>
        <p:nvSpPr>
          <p:cNvPr id="7" name="Text 5"/>
          <p:cNvSpPr/>
          <p:nvPr/>
        </p:nvSpPr>
        <p:spPr>
          <a:xfrm>
            <a:off x="457200" y="1325880"/>
            <a:ext cx="2423160" cy="548640"/>
          </a:xfrm>
          <a:prstGeom prst="rect">
            <a:avLst/>
          </a:prstGeom>
          <a:noFill/>
          <a:ln/>
        </p:spPr>
        <p:txBody>
          <a:bodyPr wrap="square" rtlCol="0" anchor="ctr"/>
          <a:lstStyle/>
          <a:p>
            <a:pPr indent="0" marL="0">
              <a:buNone/>
            </a:pPr>
            <a:r>
              <a:rPr lang="en-US" sz="1200" dirty="0">
                <a:solidFill>
                  <a:srgbClr val="1E293B"/>
                </a:solidFill>
              </a:rPr>
              <a:t>Get all keys</a:t>
            </a:r>
            <a:endParaRPr lang="en-US" sz="1200" dirty="0"/>
          </a:p>
        </p:txBody>
      </p:sp>
      <p:sp>
        <p:nvSpPr>
          <p:cNvPr id="8" name="Shape 6"/>
          <p:cNvSpPr/>
          <p:nvPr/>
        </p:nvSpPr>
        <p:spPr>
          <a:xfrm>
            <a:off x="3200400" y="91440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9" name="Shape 7"/>
          <p:cNvSpPr/>
          <p:nvPr/>
        </p:nvSpPr>
        <p:spPr>
          <a:xfrm>
            <a:off x="3200400" y="914400"/>
            <a:ext cx="2606040" cy="347472"/>
          </a:xfrm>
          <a:prstGeom prst="rect">
            <a:avLst/>
          </a:prstGeom>
          <a:solidFill>
            <a:srgbClr val="FEF3C7"/>
          </a:solidFill>
          <a:ln w="12700">
            <a:solidFill>
              <a:srgbClr val="FEF3C7"/>
            </a:solidFill>
            <a:prstDash val="solid"/>
          </a:ln>
        </p:spPr>
      </p:sp>
      <p:sp>
        <p:nvSpPr>
          <p:cNvPr id="10" name="Text 8"/>
          <p:cNvSpPr/>
          <p:nvPr/>
        </p:nvSpPr>
        <p:spPr>
          <a:xfrm>
            <a:off x="3291840" y="950976"/>
            <a:ext cx="2423160" cy="274320"/>
          </a:xfrm>
          <a:prstGeom prst="rect">
            <a:avLst/>
          </a:prstGeom>
          <a:noFill/>
          <a:ln/>
        </p:spPr>
        <p:txBody>
          <a:bodyPr wrap="square" rtlCol="0" anchor="ctr"/>
          <a:lstStyle/>
          <a:p>
            <a:pPr indent="0" marL="0">
              <a:buNone/>
            </a:pPr>
            <a:r>
              <a:rPr lang="en-US" sz="1300" b="1" dirty="0">
                <a:solidFill>
                  <a:srgbClr val="D97706"/>
                </a:solidFill>
                <a:latin typeface="Consolas" pitchFamily="34" charset="0"/>
                <a:ea typeface="Consolas" pitchFamily="34" charset="-122"/>
                <a:cs typeface="Consolas" pitchFamily="34" charset="-120"/>
              </a:rPr>
              <a:t>values()</a:t>
            </a:r>
            <a:endParaRPr lang="en-US" sz="1300" dirty="0"/>
          </a:p>
        </p:txBody>
      </p:sp>
      <p:sp>
        <p:nvSpPr>
          <p:cNvPr id="11" name="Text 9"/>
          <p:cNvSpPr/>
          <p:nvPr/>
        </p:nvSpPr>
        <p:spPr>
          <a:xfrm>
            <a:off x="3291840" y="1325880"/>
            <a:ext cx="2423160" cy="548640"/>
          </a:xfrm>
          <a:prstGeom prst="rect">
            <a:avLst/>
          </a:prstGeom>
          <a:noFill/>
          <a:ln/>
        </p:spPr>
        <p:txBody>
          <a:bodyPr wrap="square" rtlCol="0" anchor="ctr"/>
          <a:lstStyle/>
          <a:p>
            <a:pPr indent="0" marL="0">
              <a:buNone/>
            </a:pPr>
            <a:r>
              <a:rPr lang="en-US" sz="1200" dirty="0">
                <a:solidFill>
                  <a:srgbClr val="1E293B"/>
                </a:solidFill>
              </a:rPr>
              <a:t>Get all values</a:t>
            </a:r>
            <a:endParaRPr lang="en-US" sz="1200" dirty="0"/>
          </a:p>
        </p:txBody>
      </p:sp>
      <p:sp>
        <p:nvSpPr>
          <p:cNvPr id="12" name="Shape 10"/>
          <p:cNvSpPr/>
          <p:nvPr/>
        </p:nvSpPr>
        <p:spPr>
          <a:xfrm>
            <a:off x="6035040" y="91440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13" name="Shape 11"/>
          <p:cNvSpPr/>
          <p:nvPr/>
        </p:nvSpPr>
        <p:spPr>
          <a:xfrm>
            <a:off x="6035040" y="914400"/>
            <a:ext cx="2606040" cy="347472"/>
          </a:xfrm>
          <a:prstGeom prst="rect">
            <a:avLst/>
          </a:prstGeom>
          <a:solidFill>
            <a:srgbClr val="FEF3C7"/>
          </a:solidFill>
          <a:ln w="12700">
            <a:solidFill>
              <a:srgbClr val="FEF3C7"/>
            </a:solidFill>
            <a:prstDash val="solid"/>
          </a:ln>
        </p:spPr>
      </p:sp>
      <p:sp>
        <p:nvSpPr>
          <p:cNvPr id="14" name="Text 12"/>
          <p:cNvSpPr/>
          <p:nvPr/>
        </p:nvSpPr>
        <p:spPr>
          <a:xfrm>
            <a:off x="6126480" y="950976"/>
            <a:ext cx="2423160" cy="274320"/>
          </a:xfrm>
          <a:prstGeom prst="rect">
            <a:avLst/>
          </a:prstGeom>
          <a:noFill/>
          <a:ln/>
        </p:spPr>
        <p:txBody>
          <a:bodyPr wrap="square" rtlCol="0" anchor="ctr"/>
          <a:lstStyle/>
          <a:p>
            <a:pPr indent="0" marL="0">
              <a:buNone/>
            </a:pPr>
            <a:r>
              <a:rPr lang="en-US" sz="1300" b="1" dirty="0">
                <a:solidFill>
                  <a:srgbClr val="D97706"/>
                </a:solidFill>
                <a:latin typeface="Consolas" pitchFamily="34" charset="0"/>
                <a:ea typeface="Consolas" pitchFamily="34" charset="-122"/>
                <a:cs typeface="Consolas" pitchFamily="34" charset="-120"/>
              </a:rPr>
              <a:t>items()</a:t>
            </a:r>
            <a:endParaRPr lang="en-US" sz="1300" dirty="0"/>
          </a:p>
        </p:txBody>
      </p:sp>
      <p:sp>
        <p:nvSpPr>
          <p:cNvPr id="15" name="Text 13"/>
          <p:cNvSpPr/>
          <p:nvPr/>
        </p:nvSpPr>
        <p:spPr>
          <a:xfrm>
            <a:off x="6126480" y="1325880"/>
            <a:ext cx="2423160" cy="548640"/>
          </a:xfrm>
          <a:prstGeom prst="rect">
            <a:avLst/>
          </a:prstGeom>
          <a:noFill/>
          <a:ln/>
        </p:spPr>
        <p:txBody>
          <a:bodyPr wrap="square" rtlCol="0" anchor="ctr"/>
          <a:lstStyle/>
          <a:p>
            <a:pPr indent="0" marL="0">
              <a:buNone/>
            </a:pPr>
            <a:r>
              <a:rPr lang="en-US" sz="1200" dirty="0">
                <a:solidFill>
                  <a:srgbClr val="1E293B"/>
                </a:solidFill>
              </a:rPr>
              <a:t>Get all key-value pairs</a:t>
            </a:r>
            <a:endParaRPr lang="en-US" sz="1200" dirty="0"/>
          </a:p>
        </p:txBody>
      </p:sp>
      <p:sp>
        <p:nvSpPr>
          <p:cNvPr id="16" name="Shape 14"/>
          <p:cNvSpPr/>
          <p:nvPr/>
        </p:nvSpPr>
        <p:spPr>
          <a:xfrm>
            <a:off x="365760" y="214884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17" name="Shape 15"/>
          <p:cNvSpPr/>
          <p:nvPr/>
        </p:nvSpPr>
        <p:spPr>
          <a:xfrm>
            <a:off x="365760" y="2148840"/>
            <a:ext cx="2606040" cy="347472"/>
          </a:xfrm>
          <a:prstGeom prst="rect">
            <a:avLst/>
          </a:prstGeom>
          <a:solidFill>
            <a:srgbClr val="FEF3C7"/>
          </a:solidFill>
          <a:ln w="12700">
            <a:solidFill>
              <a:srgbClr val="FEF3C7"/>
            </a:solidFill>
            <a:prstDash val="solid"/>
          </a:ln>
        </p:spPr>
      </p:sp>
      <p:sp>
        <p:nvSpPr>
          <p:cNvPr id="18" name="Text 16"/>
          <p:cNvSpPr/>
          <p:nvPr/>
        </p:nvSpPr>
        <p:spPr>
          <a:xfrm>
            <a:off x="457200" y="2185416"/>
            <a:ext cx="2423160" cy="274320"/>
          </a:xfrm>
          <a:prstGeom prst="rect">
            <a:avLst/>
          </a:prstGeom>
          <a:noFill/>
          <a:ln/>
        </p:spPr>
        <p:txBody>
          <a:bodyPr wrap="square" rtlCol="0" anchor="ctr"/>
          <a:lstStyle/>
          <a:p>
            <a:pPr indent="0" marL="0">
              <a:buNone/>
            </a:pPr>
            <a:r>
              <a:rPr lang="en-US" sz="1300" b="1" dirty="0">
                <a:solidFill>
                  <a:srgbClr val="D97706"/>
                </a:solidFill>
                <a:latin typeface="Consolas" pitchFamily="34" charset="0"/>
                <a:ea typeface="Consolas" pitchFamily="34" charset="-122"/>
                <a:cs typeface="Consolas" pitchFamily="34" charset="-120"/>
              </a:rPr>
              <a:t>get()</a:t>
            </a:r>
            <a:endParaRPr lang="en-US" sz="1300" dirty="0"/>
          </a:p>
        </p:txBody>
      </p:sp>
      <p:sp>
        <p:nvSpPr>
          <p:cNvPr id="19" name="Text 17"/>
          <p:cNvSpPr/>
          <p:nvPr/>
        </p:nvSpPr>
        <p:spPr>
          <a:xfrm>
            <a:off x="457200" y="2560320"/>
            <a:ext cx="2423160" cy="548640"/>
          </a:xfrm>
          <a:prstGeom prst="rect">
            <a:avLst/>
          </a:prstGeom>
          <a:noFill/>
          <a:ln/>
        </p:spPr>
        <p:txBody>
          <a:bodyPr wrap="square" rtlCol="0" anchor="ctr"/>
          <a:lstStyle/>
          <a:p>
            <a:pPr indent="0" marL="0">
              <a:buNone/>
            </a:pPr>
            <a:r>
              <a:rPr lang="en-US" sz="1200" dirty="0">
                <a:solidFill>
                  <a:srgbClr val="1E293B"/>
                </a:solidFill>
              </a:rPr>
              <a:t>Get value by key (safe)</a:t>
            </a:r>
            <a:endParaRPr lang="en-US" sz="1200" dirty="0"/>
          </a:p>
        </p:txBody>
      </p:sp>
      <p:sp>
        <p:nvSpPr>
          <p:cNvPr id="20" name="Shape 18"/>
          <p:cNvSpPr/>
          <p:nvPr/>
        </p:nvSpPr>
        <p:spPr>
          <a:xfrm>
            <a:off x="3200400" y="214884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21" name="Shape 19"/>
          <p:cNvSpPr/>
          <p:nvPr/>
        </p:nvSpPr>
        <p:spPr>
          <a:xfrm>
            <a:off x="3200400" y="2148840"/>
            <a:ext cx="2606040" cy="347472"/>
          </a:xfrm>
          <a:prstGeom prst="rect">
            <a:avLst/>
          </a:prstGeom>
          <a:solidFill>
            <a:srgbClr val="FEF3C7"/>
          </a:solidFill>
          <a:ln w="12700">
            <a:solidFill>
              <a:srgbClr val="FEF3C7"/>
            </a:solidFill>
            <a:prstDash val="solid"/>
          </a:ln>
        </p:spPr>
      </p:sp>
      <p:sp>
        <p:nvSpPr>
          <p:cNvPr id="22" name="Text 20"/>
          <p:cNvSpPr/>
          <p:nvPr/>
        </p:nvSpPr>
        <p:spPr>
          <a:xfrm>
            <a:off x="3291840" y="2185416"/>
            <a:ext cx="2423160" cy="274320"/>
          </a:xfrm>
          <a:prstGeom prst="rect">
            <a:avLst/>
          </a:prstGeom>
          <a:noFill/>
          <a:ln/>
        </p:spPr>
        <p:txBody>
          <a:bodyPr wrap="square" rtlCol="0" anchor="ctr"/>
          <a:lstStyle/>
          <a:p>
            <a:pPr indent="0" marL="0">
              <a:buNone/>
            </a:pPr>
            <a:r>
              <a:rPr lang="en-US" sz="1300" b="1" dirty="0">
                <a:solidFill>
                  <a:srgbClr val="D97706"/>
                </a:solidFill>
                <a:latin typeface="Consolas" pitchFamily="34" charset="0"/>
                <a:ea typeface="Consolas" pitchFamily="34" charset="-122"/>
                <a:cs typeface="Consolas" pitchFamily="34" charset="-120"/>
              </a:rPr>
              <a:t>update()</a:t>
            </a:r>
            <a:endParaRPr lang="en-US" sz="1300" dirty="0"/>
          </a:p>
        </p:txBody>
      </p:sp>
      <p:sp>
        <p:nvSpPr>
          <p:cNvPr id="23" name="Text 21"/>
          <p:cNvSpPr/>
          <p:nvPr/>
        </p:nvSpPr>
        <p:spPr>
          <a:xfrm>
            <a:off x="3291840" y="2560320"/>
            <a:ext cx="2423160" cy="548640"/>
          </a:xfrm>
          <a:prstGeom prst="rect">
            <a:avLst/>
          </a:prstGeom>
          <a:noFill/>
          <a:ln/>
        </p:spPr>
        <p:txBody>
          <a:bodyPr wrap="square" rtlCol="0" anchor="ctr"/>
          <a:lstStyle/>
          <a:p>
            <a:pPr indent="0" marL="0">
              <a:buNone/>
            </a:pPr>
            <a:r>
              <a:rPr lang="en-US" sz="1200" dirty="0">
                <a:solidFill>
                  <a:srgbClr val="1E293B"/>
                </a:solidFill>
              </a:rPr>
              <a:t>Add or update entries</a:t>
            </a:r>
            <a:endParaRPr lang="en-US" sz="1200" dirty="0"/>
          </a:p>
        </p:txBody>
      </p:sp>
      <p:sp>
        <p:nvSpPr>
          <p:cNvPr id="24" name="Shape 22"/>
          <p:cNvSpPr/>
          <p:nvPr/>
        </p:nvSpPr>
        <p:spPr>
          <a:xfrm>
            <a:off x="6035040" y="214884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25" name="Shape 23"/>
          <p:cNvSpPr/>
          <p:nvPr/>
        </p:nvSpPr>
        <p:spPr>
          <a:xfrm>
            <a:off x="6035040" y="2148840"/>
            <a:ext cx="2606040" cy="347472"/>
          </a:xfrm>
          <a:prstGeom prst="rect">
            <a:avLst/>
          </a:prstGeom>
          <a:solidFill>
            <a:srgbClr val="FEF3C7"/>
          </a:solidFill>
          <a:ln w="12700">
            <a:solidFill>
              <a:srgbClr val="FEF3C7"/>
            </a:solidFill>
            <a:prstDash val="solid"/>
          </a:ln>
        </p:spPr>
      </p:sp>
      <p:sp>
        <p:nvSpPr>
          <p:cNvPr id="26" name="Text 24"/>
          <p:cNvSpPr/>
          <p:nvPr/>
        </p:nvSpPr>
        <p:spPr>
          <a:xfrm>
            <a:off x="6126480" y="2185416"/>
            <a:ext cx="2423160" cy="274320"/>
          </a:xfrm>
          <a:prstGeom prst="rect">
            <a:avLst/>
          </a:prstGeom>
          <a:noFill/>
          <a:ln/>
        </p:spPr>
        <p:txBody>
          <a:bodyPr wrap="square" rtlCol="0" anchor="ctr"/>
          <a:lstStyle/>
          <a:p>
            <a:pPr indent="0" marL="0">
              <a:buNone/>
            </a:pPr>
            <a:r>
              <a:rPr lang="en-US" sz="1300" b="1" dirty="0">
                <a:solidFill>
                  <a:srgbClr val="D97706"/>
                </a:solidFill>
                <a:latin typeface="Consolas" pitchFamily="34" charset="0"/>
                <a:ea typeface="Consolas" pitchFamily="34" charset="-122"/>
                <a:cs typeface="Consolas" pitchFamily="34" charset="-120"/>
              </a:rPr>
              <a:t>pop()</a:t>
            </a:r>
            <a:endParaRPr lang="en-US" sz="1300" dirty="0"/>
          </a:p>
        </p:txBody>
      </p:sp>
      <p:sp>
        <p:nvSpPr>
          <p:cNvPr id="27" name="Text 25"/>
          <p:cNvSpPr/>
          <p:nvPr/>
        </p:nvSpPr>
        <p:spPr>
          <a:xfrm>
            <a:off x="6126480" y="2560320"/>
            <a:ext cx="2423160" cy="548640"/>
          </a:xfrm>
          <a:prstGeom prst="rect">
            <a:avLst/>
          </a:prstGeom>
          <a:noFill/>
          <a:ln/>
        </p:spPr>
        <p:txBody>
          <a:bodyPr wrap="square" rtlCol="0" anchor="ctr"/>
          <a:lstStyle/>
          <a:p>
            <a:pPr indent="0" marL="0">
              <a:buNone/>
            </a:pPr>
            <a:r>
              <a:rPr lang="en-US" sz="1200" dirty="0">
                <a:solidFill>
                  <a:srgbClr val="1E293B"/>
                </a:solidFill>
              </a:rPr>
              <a:t>Delete by key</a:t>
            </a:r>
            <a:endParaRPr lang="en-US" sz="1200" dirty="0"/>
          </a:p>
        </p:txBody>
      </p:sp>
      <p:sp>
        <p:nvSpPr>
          <p:cNvPr id="28" name="Shape 26"/>
          <p:cNvSpPr/>
          <p:nvPr/>
        </p:nvSpPr>
        <p:spPr>
          <a:xfrm>
            <a:off x="365760" y="338328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29" name="Shape 27"/>
          <p:cNvSpPr/>
          <p:nvPr/>
        </p:nvSpPr>
        <p:spPr>
          <a:xfrm>
            <a:off x="365760" y="3383280"/>
            <a:ext cx="2606040" cy="347472"/>
          </a:xfrm>
          <a:prstGeom prst="rect">
            <a:avLst/>
          </a:prstGeom>
          <a:solidFill>
            <a:srgbClr val="FEF3C7"/>
          </a:solidFill>
          <a:ln w="12700">
            <a:solidFill>
              <a:srgbClr val="FEF3C7"/>
            </a:solidFill>
            <a:prstDash val="solid"/>
          </a:ln>
        </p:spPr>
      </p:sp>
      <p:sp>
        <p:nvSpPr>
          <p:cNvPr id="30" name="Text 28"/>
          <p:cNvSpPr/>
          <p:nvPr/>
        </p:nvSpPr>
        <p:spPr>
          <a:xfrm>
            <a:off x="457200" y="3419856"/>
            <a:ext cx="2423160" cy="274320"/>
          </a:xfrm>
          <a:prstGeom prst="rect">
            <a:avLst/>
          </a:prstGeom>
          <a:noFill/>
          <a:ln/>
        </p:spPr>
        <p:txBody>
          <a:bodyPr wrap="square" rtlCol="0" anchor="ctr"/>
          <a:lstStyle/>
          <a:p>
            <a:pPr indent="0" marL="0">
              <a:buNone/>
            </a:pPr>
            <a:r>
              <a:rPr lang="en-US" sz="1300" b="1" dirty="0">
                <a:solidFill>
                  <a:srgbClr val="D97706"/>
                </a:solidFill>
                <a:latin typeface="Consolas" pitchFamily="34" charset="0"/>
                <a:ea typeface="Consolas" pitchFamily="34" charset="-122"/>
                <a:cs typeface="Consolas" pitchFamily="34" charset="-120"/>
              </a:rPr>
              <a:t>popitem()</a:t>
            </a:r>
            <a:endParaRPr lang="en-US" sz="1300" dirty="0"/>
          </a:p>
        </p:txBody>
      </p:sp>
      <p:sp>
        <p:nvSpPr>
          <p:cNvPr id="31" name="Text 29"/>
          <p:cNvSpPr/>
          <p:nvPr/>
        </p:nvSpPr>
        <p:spPr>
          <a:xfrm>
            <a:off x="457200" y="3794760"/>
            <a:ext cx="2423160" cy="548640"/>
          </a:xfrm>
          <a:prstGeom prst="rect">
            <a:avLst/>
          </a:prstGeom>
          <a:noFill/>
          <a:ln/>
        </p:spPr>
        <p:txBody>
          <a:bodyPr wrap="square" rtlCol="0" anchor="ctr"/>
          <a:lstStyle/>
          <a:p>
            <a:pPr indent="0" marL="0">
              <a:buNone/>
            </a:pPr>
            <a:r>
              <a:rPr lang="en-US" sz="1200" dirty="0">
                <a:solidFill>
                  <a:srgbClr val="1E293B"/>
                </a:solidFill>
              </a:rPr>
              <a:t>Delete last entry</a:t>
            </a:r>
            <a:endParaRPr lang="en-US" sz="1200" dirty="0"/>
          </a:p>
        </p:txBody>
      </p:sp>
      <p:sp>
        <p:nvSpPr>
          <p:cNvPr id="32" name="Shape 30"/>
          <p:cNvSpPr/>
          <p:nvPr/>
        </p:nvSpPr>
        <p:spPr>
          <a:xfrm>
            <a:off x="3200400" y="338328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33" name="Shape 31"/>
          <p:cNvSpPr/>
          <p:nvPr/>
        </p:nvSpPr>
        <p:spPr>
          <a:xfrm>
            <a:off x="3200400" y="3383280"/>
            <a:ext cx="2606040" cy="347472"/>
          </a:xfrm>
          <a:prstGeom prst="rect">
            <a:avLst/>
          </a:prstGeom>
          <a:solidFill>
            <a:srgbClr val="FEF3C7"/>
          </a:solidFill>
          <a:ln w="12700">
            <a:solidFill>
              <a:srgbClr val="FEF3C7"/>
            </a:solidFill>
            <a:prstDash val="solid"/>
          </a:ln>
        </p:spPr>
      </p:sp>
      <p:sp>
        <p:nvSpPr>
          <p:cNvPr id="34" name="Text 32"/>
          <p:cNvSpPr/>
          <p:nvPr/>
        </p:nvSpPr>
        <p:spPr>
          <a:xfrm>
            <a:off x="3291840" y="3419856"/>
            <a:ext cx="2423160" cy="274320"/>
          </a:xfrm>
          <a:prstGeom prst="rect">
            <a:avLst/>
          </a:prstGeom>
          <a:noFill/>
          <a:ln/>
        </p:spPr>
        <p:txBody>
          <a:bodyPr wrap="square" rtlCol="0" anchor="ctr"/>
          <a:lstStyle/>
          <a:p>
            <a:pPr indent="0" marL="0">
              <a:buNone/>
            </a:pPr>
            <a:r>
              <a:rPr lang="en-US" sz="1300" b="1" dirty="0">
                <a:solidFill>
                  <a:srgbClr val="D97706"/>
                </a:solidFill>
                <a:latin typeface="Consolas" pitchFamily="34" charset="0"/>
                <a:ea typeface="Consolas" pitchFamily="34" charset="-122"/>
                <a:cs typeface="Consolas" pitchFamily="34" charset="-120"/>
              </a:rPr>
              <a:t>clear()</a:t>
            </a:r>
            <a:endParaRPr lang="en-US" sz="1300" dirty="0"/>
          </a:p>
        </p:txBody>
      </p:sp>
      <p:sp>
        <p:nvSpPr>
          <p:cNvPr id="35" name="Text 33"/>
          <p:cNvSpPr/>
          <p:nvPr/>
        </p:nvSpPr>
        <p:spPr>
          <a:xfrm>
            <a:off x="3291840" y="3794760"/>
            <a:ext cx="2423160" cy="548640"/>
          </a:xfrm>
          <a:prstGeom prst="rect">
            <a:avLst/>
          </a:prstGeom>
          <a:noFill/>
          <a:ln/>
        </p:spPr>
        <p:txBody>
          <a:bodyPr wrap="square" rtlCol="0" anchor="ctr"/>
          <a:lstStyle/>
          <a:p>
            <a:pPr indent="0" marL="0">
              <a:buNone/>
            </a:pPr>
            <a:r>
              <a:rPr lang="en-US" sz="1200" dirty="0">
                <a:solidFill>
                  <a:srgbClr val="1E293B"/>
                </a:solidFill>
              </a:rPr>
              <a:t>Remove all entries</a:t>
            </a:r>
            <a:endParaRPr lang="en-US" sz="1200" dirty="0"/>
          </a:p>
        </p:txBody>
      </p:sp>
      <p:sp>
        <p:nvSpPr>
          <p:cNvPr id="36" name="Shape 34"/>
          <p:cNvSpPr/>
          <p:nvPr/>
        </p:nvSpPr>
        <p:spPr>
          <a:xfrm>
            <a:off x="6035040" y="3383280"/>
            <a:ext cx="2606040" cy="105156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37" name="Shape 35"/>
          <p:cNvSpPr/>
          <p:nvPr/>
        </p:nvSpPr>
        <p:spPr>
          <a:xfrm>
            <a:off x="6035040" y="3383280"/>
            <a:ext cx="2606040" cy="347472"/>
          </a:xfrm>
          <a:prstGeom prst="rect">
            <a:avLst/>
          </a:prstGeom>
          <a:solidFill>
            <a:srgbClr val="FEF3C7"/>
          </a:solidFill>
          <a:ln w="12700">
            <a:solidFill>
              <a:srgbClr val="FEF3C7"/>
            </a:solidFill>
            <a:prstDash val="solid"/>
          </a:ln>
        </p:spPr>
      </p:sp>
      <p:sp>
        <p:nvSpPr>
          <p:cNvPr id="38" name="Text 36"/>
          <p:cNvSpPr/>
          <p:nvPr/>
        </p:nvSpPr>
        <p:spPr>
          <a:xfrm>
            <a:off x="6126480" y="3419856"/>
            <a:ext cx="2423160" cy="274320"/>
          </a:xfrm>
          <a:prstGeom prst="rect">
            <a:avLst/>
          </a:prstGeom>
          <a:noFill/>
          <a:ln/>
        </p:spPr>
        <p:txBody>
          <a:bodyPr wrap="square" rtlCol="0" anchor="ctr"/>
          <a:lstStyle/>
          <a:p>
            <a:pPr indent="0" marL="0">
              <a:buNone/>
            </a:pPr>
            <a:r>
              <a:rPr lang="en-US" sz="1300" b="1" dirty="0">
                <a:solidFill>
                  <a:srgbClr val="D97706"/>
                </a:solidFill>
                <a:latin typeface="Consolas" pitchFamily="34" charset="0"/>
                <a:ea typeface="Consolas" pitchFamily="34" charset="-122"/>
                <a:cs typeface="Consolas" pitchFamily="34" charset="-120"/>
              </a:rPr>
              <a:t>copy()</a:t>
            </a:r>
            <a:endParaRPr lang="en-US" sz="1300" dirty="0"/>
          </a:p>
        </p:txBody>
      </p:sp>
      <p:sp>
        <p:nvSpPr>
          <p:cNvPr id="39" name="Text 37"/>
          <p:cNvSpPr/>
          <p:nvPr/>
        </p:nvSpPr>
        <p:spPr>
          <a:xfrm>
            <a:off x="6126480" y="3794760"/>
            <a:ext cx="2423160" cy="548640"/>
          </a:xfrm>
          <a:prstGeom prst="rect">
            <a:avLst/>
          </a:prstGeom>
          <a:noFill/>
          <a:ln/>
        </p:spPr>
        <p:txBody>
          <a:bodyPr wrap="square" rtlCol="0" anchor="ctr"/>
          <a:lstStyle/>
          <a:p>
            <a:pPr indent="0" marL="0">
              <a:buNone/>
            </a:pPr>
            <a:r>
              <a:rPr lang="en-US" sz="1200" dirty="0">
                <a:solidFill>
                  <a:srgbClr val="1E293B"/>
                </a:solidFill>
              </a:rPr>
              <a:t>Copy the dictionary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D97706"/>
          </a:solidFill>
          <a:ln w="12700">
            <a:solidFill>
              <a:srgbClr val="D97706"/>
            </a:solidFill>
            <a:prstDash val="solid"/>
          </a:ln>
        </p:spPr>
      </p:sp>
      <p:sp>
        <p:nvSpPr>
          <p:cNvPr id="3" name="Text 1"/>
          <p:cNvSpPr/>
          <p:nvPr/>
        </p:nvSpPr>
        <p:spPr>
          <a:xfrm>
            <a:off x="457200" y="91440"/>
            <a:ext cx="8229600" cy="594360"/>
          </a:xfrm>
          <a:prstGeom prst="rect">
            <a:avLst/>
          </a:prstGeom>
          <a:noFill/>
          <a:ln/>
        </p:spPr>
        <p:txBody>
          <a:bodyPr wrap="square" rtlCol="0" anchor="ctr"/>
          <a:lstStyle/>
          <a:p>
            <a:pPr indent="0" marL="0">
              <a:buNone/>
            </a:pPr>
            <a:r>
              <a:rPr lang="en-US" sz="2600" b="1" dirty="0">
                <a:solidFill>
                  <a:srgbClr val="FFFFFF"/>
                </a:solidFill>
              </a:rPr>
              <a:t>Dictionary — Strengths &amp; Weaknesses</a:t>
            </a:r>
            <a:endParaRPr lang="en-US" sz="2600" dirty="0"/>
          </a:p>
        </p:txBody>
      </p:sp>
      <p:sp>
        <p:nvSpPr>
          <p:cNvPr id="4" name="Shape 2"/>
          <p:cNvSpPr/>
          <p:nvPr/>
        </p:nvSpPr>
        <p:spPr>
          <a:xfrm>
            <a:off x="365760" y="914400"/>
            <a:ext cx="3931920" cy="3291840"/>
          </a:xfrm>
          <a:prstGeom prst="rect">
            <a:avLst/>
          </a:prstGeom>
          <a:solidFill>
            <a:srgbClr val="FFFFFF"/>
          </a:solidFill>
          <a:ln w="12700">
            <a:solidFill>
              <a:srgbClr val="E2E8F0"/>
            </a:solidFill>
            <a:prstDash val="solid"/>
          </a:ln>
        </p:spPr>
      </p:sp>
      <p:sp>
        <p:nvSpPr>
          <p:cNvPr id="5" name="Shape 3"/>
          <p:cNvSpPr/>
          <p:nvPr/>
        </p:nvSpPr>
        <p:spPr>
          <a:xfrm>
            <a:off x="365760" y="914400"/>
            <a:ext cx="3931920" cy="457200"/>
          </a:xfrm>
          <a:prstGeom prst="rect">
            <a:avLst/>
          </a:prstGeom>
          <a:solidFill>
            <a:srgbClr val="D1FAE5"/>
          </a:solidFill>
          <a:ln w="12700">
            <a:solidFill>
              <a:srgbClr val="D1FAE5"/>
            </a:solidFill>
            <a:prstDash val="solid"/>
          </a:ln>
        </p:spPr>
      </p:sp>
      <p:sp>
        <p:nvSpPr>
          <p:cNvPr id="6" name="Text 4"/>
          <p:cNvSpPr/>
          <p:nvPr/>
        </p:nvSpPr>
        <p:spPr>
          <a:xfrm>
            <a:off x="502920" y="960120"/>
            <a:ext cx="3657600" cy="365760"/>
          </a:xfrm>
          <a:prstGeom prst="rect">
            <a:avLst/>
          </a:prstGeom>
          <a:noFill/>
          <a:ln/>
        </p:spPr>
        <p:txBody>
          <a:bodyPr wrap="square" rtlCol="0" anchor="ctr"/>
          <a:lstStyle/>
          <a:p>
            <a:pPr indent="0" marL="0">
              <a:buNone/>
            </a:pPr>
            <a:r>
              <a:rPr lang="en-US" sz="1400" b="1" dirty="0">
                <a:solidFill>
                  <a:srgbClr val="059669"/>
                </a:solidFill>
              </a:rPr>
              <a:t>✅  Strengths</a:t>
            </a:r>
            <a:endParaRPr lang="en-US" sz="1400" dirty="0"/>
          </a:p>
        </p:txBody>
      </p:sp>
      <p:sp>
        <p:nvSpPr>
          <p:cNvPr id="7" name="Text 5"/>
          <p:cNvSpPr/>
          <p:nvPr/>
        </p:nvSpPr>
        <p:spPr>
          <a:xfrm>
            <a:off x="502920" y="1463040"/>
            <a:ext cx="3611880" cy="2560320"/>
          </a:xfrm>
          <a:prstGeom prst="rect">
            <a:avLst/>
          </a:prstGeom>
          <a:noFill/>
          <a:ln/>
        </p:spPr>
        <p:txBody>
          <a:bodyPr wrap="square" rtlCol="0" anchor="ctr"/>
          <a:lstStyle/>
          <a:p>
            <a:pPr marL="342900" indent="-342900">
              <a:buSzPct val="100000"/>
              <a:buChar char="•"/>
            </a:pPr>
            <a:r>
              <a:rPr lang="en-US" sz="1300" dirty="0">
                <a:solidFill>
                  <a:srgbClr val="1E293B"/>
                </a:solidFill>
              </a:rPr>
              <a:t>Descriptive key-value structure</a:t>
            </a:r>
            <a:endParaRPr lang="en-US" sz="1300" dirty="0"/>
          </a:p>
          <a:p>
            <a:pPr marL="342900" indent="-342900">
              <a:buSzPct val="100000"/>
              <a:buChar char="•"/>
            </a:pPr>
            <a:r>
              <a:rPr lang="en-US" sz="1300" dirty="0">
                <a:solidFill>
                  <a:srgbClr val="1E293B"/>
                </a:solidFill>
              </a:rPr>
              <a:t>Very fast access by key</a:t>
            </a:r>
            <a:endParaRPr lang="en-US" sz="1300" dirty="0"/>
          </a:p>
          <a:p>
            <a:pPr marL="342900" indent="-342900">
              <a:buSzPct val="100000"/>
              <a:buChar char="•"/>
            </a:pPr>
            <a:r>
              <a:rPr lang="en-US" sz="1300" dirty="0">
                <a:solidFill>
                  <a:srgbClr val="1E293B"/>
                </a:solidFill>
              </a:rPr>
              <a:t>Great for student profiles, products, user accounts</a:t>
            </a:r>
            <a:endParaRPr lang="en-US" sz="1300" dirty="0"/>
          </a:p>
          <a:p>
            <a:pPr marL="342900" indent="-342900">
              <a:buSzPct val="100000"/>
              <a:buChar char="•"/>
            </a:pPr>
            <a:r>
              <a:rPr lang="en-US" sz="1300" dirty="0">
                <a:solidFill>
                  <a:srgbClr val="1E293B"/>
                </a:solidFill>
              </a:rPr>
              <a:t>Self-documenting — keys explain the data</a:t>
            </a:r>
            <a:endParaRPr lang="en-US" sz="1300" dirty="0"/>
          </a:p>
        </p:txBody>
      </p:sp>
      <p:sp>
        <p:nvSpPr>
          <p:cNvPr id="8" name="Shape 6"/>
          <p:cNvSpPr/>
          <p:nvPr/>
        </p:nvSpPr>
        <p:spPr>
          <a:xfrm>
            <a:off x="4846320" y="914400"/>
            <a:ext cx="3931920" cy="3291840"/>
          </a:xfrm>
          <a:prstGeom prst="rect">
            <a:avLst/>
          </a:prstGeom>
          <a:solidFill>
            <a:srgbClr val="FFFFFF"/>
          </a:solidFill>
          <a:ln w="12700">
            <a:solidFill>
              <a:srgbClr val="E2E8F0"/>
            </a:solidFill>
            <a:prstDash val="solid"/>
          </a:ln>
        </p:spPr>
      </p:sp>
      <p:sp>
        <p:nvSpPr>
          <p:cNvPr id="9" name="Shape 7"/>
          <p:cNvSpPr/>
          <p:nvPr/>
        </p:nvSpPr>
        <p:spPr>
          <a:xfrm>
            <a:off x="4846320" y="914400"/>
            <a:ext cx="3931920" cy="457200"/>
          </a:xfrm>
          <a:prstGeom prst="rect">
            <a:avLst/>
          </a:prstGeom>
          <a:solidFill>
            <a:srgbClr val="FEE2E2"/>
          </a:solidFill>
          <a:ln w="12700">
            <a:solidFill>
              <a:srgbClr val="FEE2E2"/>
            </a:solidFill>
            <a:prstDash val="solid"/>
          </a:ln>
        </p:spPr>
      </p:sp>
      <p:sp>
        <p:nvSpPr>
          <p:cNvPr id="10" name="Text 8"/>
          <p:cNvSpPr/>
          <p:nvPr/>
        </p:nvSpPr>
        <p:spPr>
          <a:xfrm>
            <a:off x="4983480" y="960120"/>
            <a:ext cx="3657600" cy="365760"/>
          </a:xfrm>
          <a:prstGeom prst="rect">
            <a:avLst/>
          </a:prstGeom>
          <a:noFill/>
          <a:ln/>
        </p:spPr>
        <p:txBody>
          <a:bodyPr wrap="square" rtlCol="0" anchor="ctr"/>
          <a:lstStyle/>
          <a:p>
            <a:pPr indent="0" marL="0">
              <a:buNone/>
            </a:pPr>
            <a:r>
              <a:rPr lang="en-US" sz="1400" b="1" dirty="0">
                <a:solidFill>
                  <a:srgbClr val="B91C1C"/>
                </a:solidFill>
              </a:rPr>
              <a:t>⚠️  Weaknesses</a:t>
            </a:r>
            <a:endParaRPr lang="en-US" sz="1400" dirty="0"/>
          </a:p>
        </p:txBody>
      </p:sp>
      <p:sp>
        <p:nvSpPr>
          <p:cNvPr id="11" name="Text 9"/>
          <p:cNvSpPr/>
          <p:nvPr/>
        </p:nvSpPr>
        <p:spPr>
          <a:xfrm>
            <a:off x="4983480" y="1463040"/>
            <a:ext cx="3611880" cy="2560320"/>
          </a:xfrm>
          <a:prstGeom prst="rect">
            <a:avLst/>
          </a:prstGeom>
          <a:noFill/>
          <a:ln/>
        </p:spPr>
        <p:txBody>
          <a:bodyPr wrap="square" rtlCol="0" anchor="ctr"/>
          <a:lstStyle/>
          <a:p>
            <a:pPr marL="342900" indent="-342900">
              <a:buSzPct val="100000"/>
              <a:buChar char="•"/>
            </a:pPr>
            <a:r>
              <a:rPr lang="en-US" sz="1300" dirty="0">
                <a:solidFill>
                  <a:srgbClr val="1E293B"/>
                </a:solidFill>
              </a:rPr>
              <a:t>Duplicate keys overwrite old values silently</a:t>
            </a:r>
            <a:endParaRPr lang="en-US" sz="1300" dirty="0"/>
          </a:p>
          <a:p>
            <a:pPr marL="342900" indent="-342900">
              <a:buSzPct val="100000"/>
              <a:buChar char="•"/>
            </a:pPr>
            <a:r>
              <a:rPr lang="en-US" sz="1300" dirty="0">
                <a:solidFill>
                  <a:srgbClr val="1E293B"/>
                </a:solidFill>
              </a:rPr>
              <a:t>More complex than a simple list</a:t>
            </a:r>
            <a:endParaRPr lang="en-US" sz="1300" dirty="0"/>
          </a:p>
          <a:p>
            <a:pPr marL="342900" indent="-342900">
              <a:buSzPct val="100000"/>
              <a:buChar char="•"/>
            </a:pPr>
            <a:r>
              <a:rPr lang="en-US" sz="1300" dirty="0">
                <a:solidFill>
                  <a:srgbClr val="1E293B"/>
                </a:solidFill>
              </a:rPr>
              <a:t>Keys must be hashable (string, number, tuple)</a:t>
            </a:r>
            <a:endParaRPr lang="en-US" sz="1300" dirty="0"/>
          </a:p>
          <a:p>
            <a:pPr marL="342900" indent="-342900">
              <a:buSzPct val="100000"/>
              <a:buChar char="•"/>
            </a:pPr>
            <a:r>
              <a:rPr lang="en-US" sz="1300" dirty="0">
                <a:solidFill>
                  <a:srgbClr val="1E293B"/>
                </a:solidFill>
              </a:rPr>
              <a:t>Overkill for simple sequential data</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6B"/>
          </a:solidFill>
          <a:ln w="12700">
            <a:solidFill>
              <a:srgbClr val="1B2A6B"/>
            </a:solidFill>
            <a:prstDash val="solid"/>
          </a:ln>
        </p:spPr>
      </p:sp>
      <p:sp>
        <p:nvSpPr>
          <p:cNvPr id="3" name="Text 1"/>
          <p:cNvSpPr/>
          <p:nvPr/>
        </p:nvSpPr>
        <p:spPr>
          <a:xfrm>
            <a:off x="365760" y="91440"/>
            <a:ext cx="8412480" cy="594360"/>
          </a:xfrm>
          <a:prstGeom prst="rect">
            <a:avLst/>
          </a:prstGeom>
          <a:noFill/>
          <a:ln/>
        </p:spPr>
        <p:txBody>
          <a:bodyPr wrap="square" rtlCol="0" anchor="ctr"/>
          <a:lstStyle/>
          <a:p>
            <a:pPr indent="0" marL="0">
              <a:buNone/>
            </a:pPr>
            <a:r>
              <a:rPr lang="en-US" sz="2300" b="1" dirty="0">
                <a:solidFill>
                  <a:srgbClr val="FFFFFF"/>
                </a:solidFill>
              </a:rPr>
              <a:t>Comparison: List vs Tuple vs Set vs Dictionary</a:t>
            </a:r>
            <a:endParaRPr lang="en-US" sz="2300" dirty="0"/>
          </a:p>
        </p:txBody>
      </p:sp>
      <p:sp>
        <p:nvSpPr>
          <p:cNvPr id="4" name="Shape 2"/>
          <p:cNvSpPr/>
          <p:nvPr/>
        </p:nvSpPr>
        <p:spPr>
          <a:xfrm>
            <a:off x="182880" y="868680"/>
            <a:ext cx="1325880" cy="475488"/>
          </a:xfrm>
          <a:prstGeom prst="rect">
            <a:avLst/>
          </a:prstGeom>
          <a:solidFill>
            <a:srgbClr val="1E293B"/>
          </a:solidFill>
          <a:ln w="12700">
            <a:solidFill>
              <a:srgbClr val="FFFFFF"/>
            </a:solidFill>
            <a:prstDash val="solid"/>
          </a:ln>
        </p:spPr>
      </p:sp>
      <p:sp>
        <p:nvSpPr>
          <p:cNvPr id="5" name="Text 3"/>
          <p:cNvSpPr/>
          <p:nvPr/>
        </p:nvSpPr>
        <p:spPr>
          <a:xfrm>
            <a:off x="228600" y="896112"/>
            <a:ext cx="1234440" cy="411480"/>
          </a:xfrm>
          <a:prstGeom prst="rect">
            <a:avLst/>
          </a:prstGeom>
          <a:noFill/>
          <a:ln/>
        </p:spPr>
        <p:txBody>
          <a:bodyPr wrap="square" rtlCol="0" anchor="ctr"/>
          <a:lstStyle/>
          <a:p>
            <a:pPr algn="ctr" indent="0" marL="0">
              <a:buNone/>
            </a:pPr>
            <a:r>
              <a:rPr lang="en-US" sz="1150" b="1" dirty="0">
                <a:solidFill>
                  <a:srgbClr val="FFFFFF"/>
                </a:solidFill>
              </a:rPr>
              <a:t>Type</a:t>
            </a:r>
            <a:endParaRPr lang="en-US" sz="1150" dirty="0"/>
          </a:p>
        </p:txBody>
      </p:sp>
      <p:sp>
        <p:nvSpPr>
          <p:cNvPr id="6" name="Shape 4"/>
          <p:cNvSpPr/>
          <p:nvPr/>
        </p:nvSpPr>
        <p:spPr>
          <a:xfrm>
            <a:off x="1508760" y="868680"/>
            <a:ext cx="1188720" cy="475488"/>
          </a:xfrm>
          <a:prstGeom prst="rect">
            <a:avLst/>
          </a:prstGeom>
          <a:solidFill>
            <a:srgbClr val="1E293B"/>
          </a:solidFill>
          <a:ln w="12700">
            <a:solidFill>
              <a:srgbClr val="FFFFFF"/>
            </a:solidFill>
            <a:prstDash val="solid"/>
          </a:ln>
        </p:spPr>
      </p:sp>
      <p:sp>
        <p:nvSpPr>
          <p:cNvPr id="7" name="Text 5"/>
          <p:cNvSpPr/>
          <p:nvPr/>
        </p:nvSpPr>
        <p:spPr>
          <a:xfrm>
            <a:off x="1554480" y="896112"/>
            <a:ext cx="1097280" cy="411480"/>
          </a:xfrm>
          <a:prstGeom prst="rect">
            <a:avLst/>
          </a:prstGeom>
          <a:noFill/>
          <a:ln/>
        </p:spPr>
        <p:txBody>
          <a:bodyPr wrap="square" rtlCol="0" anchor="ctr"/>
          <a:lstStyle/>
          <a:p>
            <a:pPr algn="ctr" indent="0" marL="0">
              <a:buNone/>
            </a:pPr>
            <a:r>
              <a:rPr lang="en-US" sz="1150" b="1" dirty="0">
                <a:solidFill>
                  <a:srgbClr val="FFFFFF"/>
                </a:solidFill>
              </a:rPr>
              <a:t>Ordered?</a:t>
            </a:r>
            <a:endParaRPr lang="en-US" sz="1150" dirty="0"/>
          </a:p>
        </p:txBody>
      </p:sp>
      <p:sp>
        <p:nvSpPr>
          <p:cNvPr id="8" name="Shape 6"/>
          <p:cNvSpPr/>
          <p:nvPr/>
        </p:nvSpPr>
        <p:spPr>
          <a:xfrm>
            <a:off x="2697480" y="868680"/>
            <a:ext cx="1280160" cy="475488"/>
          </a:xfrm>
          <a:prstGeom prst="rect">
            <a:avLst/>
          </a:prstGeom>
          <a:solidFill>
            <a:srgbClr val="1E293B"/>
          </a:solidFill>
          <a:ln w="12700">
            <a:solidFill>
              <a:srgbClr val="FFFFFF"/>
            </a:solidFill>
            <a:prstDash val="solid"/>
          </a:ln>
        </p:spPr>
      </p:sp>
      <p:sp>
        <p:nvSpPr>
          <p:cNvPr id="9" name="Text 7"/>
          <p:cNvSpPr/>
          <p:nvPr/>
        </p:nvSpPr>
        <p:spPr>
          <a:xfrm>
            <a:off x="2743200" y="896112"/>
            <a:ext cx="1188720" cy="411480"/>
          </a:xfrm>
          <a:prstGeom prst="rect">
            <a:avLst/>
          </a:prstGeom>
          <a:noFill/>
          <a:ln/>
        </p:spPr>
        <p:txBody>
          <a:bodyPr wrap="square" rtlCol="0" anchor="ctr"/>
          <a:lstStyle/>
          <a:p>
            <a:pPr algn="ctr" indent="0" marL="0">
              <a:buNone/>
            </a:pPr>
            <a:r>
              <a:rPr lang="en-US" sz="1150" b="1" dirty="0">
                <a:solidFill>
                  <a:srgbClr val="FFFFFF"/>
                </a:solidFill>
              </a:rPr>
              <a:t>Duplicates?</a:t>
            </a:r>
            <a:endParaRPr lang="en-US" sz="1150" dirty="0"/>
          </a:p>
        </p:txBody>
      </p:sp>
      <p:sp>
        <p:nvSpPr>
          <p:cNvPr id="10" name="Shape 8"/>
          <p:cNvSpPr/>
          <p:nvPr/>
        </p:nvSpPr>
        <p:spPr>
          <a:xfrm>
            <a:off x="3977640" y="868680"/>
            <a:ext cx="1280160" cy="475488"/>
          </a:xfrm>
          <a:prstGeom prst="rect">
            <a:avLst/>
          </a:prstGeom>
          <a:solidFill>
            <a:srgbClr val="1E293B"/>
          </a:solidFill>
          <a:ln w="12700">
            <a:solidFill>
              <a:srgbClr val="FFFFFF"/>
            </a:solidFill>
            <a:prstDash val="solid"/>
          </a:ln>
        </p:spPr>
      </p:sp>
      <p:sp>
        <p:nvSpPr>
          <p:cNvPr id="11" name="Text 9"/>
          <p:cNvSpPr/>
          <p:nvPr/>
        </p:nvSpPr>
        <p:spPr>
          <a:xfrm>
            <a:off x="4023360" y="896112"/>
            <a:ext cx="1188720" cy="411480"/>
          </a:xfrm>
          <a:prstGeom prst="rect">
            <a:avLst/>
          </a:prstGeom>
          <a:noFill/>
          <a:ln/>
        </p:spPr>
        <p:txBody>
          <a:bodyPr wrap="square" rtlCol="0" anchor="ctr"/>
          <a:lstStyle/>
          <a:p>
            <a:pPr algn="ctr" indent="0" marL="0">
              <a:buNone/>
            </a:pPr>
            <a:r>
              <a:rPr lang="en-US" sz="1150" b="1" dirty="0">
                <a:solidFill>
                  <a:srgbClr val="FFFFFF"/>
                </a:solidFill>
              </a:rPr>
              <a:t>Changeable?</a:t>
            </a:r>
            <a:endParaRPr lang="en-US" sz="1150" dirty="0"/>
          </a:p>
        </p:txBody>
      </p:sp>
      <p:sp>
        <p:nvSpPr>
          <p:cNvPr id="12" name="Shape 10"/>
          <p:cNvSpPr/>
          <p:nvPr/>
        </p:nvSpPr>
        <p:spPr>
          <a:xfrm>
            <a:off x="5257800" y="868680"/>
            <a:ext cx="1417320" cy="475488"/>
          </a:xfrm>
          <a:prstGeom prst="rect">
            <a:avLst/>
          </a:prstGeom>
          <a:solidFill>
            <a:srgbClr val="1E293B"/>
          </a:solidFill>
          <a:ln w="12700">
            <a:solidFill>
              <a:srgbClr val="FFFFFF"/>
            </a:solidFill>
            <a:prstDash val="solid"/>
          </a:ln>
        </p:spPr>
      </p:sp>
      <p:sp>
        <p:nvSpPr>
          <p:cNvPr id="13" name="Text 11"/>
          <p:cNvSpPr/>
          <p:nvPr/>
        </p:nvSpPr>
        <p:spPr>
          <a:xfrm>
            <a:off x="5303520" y="896112"/>
            <a:ext cx="1325880" cy="411480"/>
          </a:xfrm>
          <a:prstGeom prst="rect">
            <a:avLst/>
          </a:prstGeom>
          <a:noFill/>
          <a:ln/>
        </p:spPr>
        <p:txBody>
          <a:bodyPr wrap="square" rtlCol="0" anchor="ctr"/>
          <a:lstStyle/>
          <a:p>
            <a:pPr algn="ctr" indent="0" marL="0">
              <a:buNone/>
            </a:pPr>
            <a:r>
              <a:rPr lang="en-US" sz="1150" b="1" dirty="0">
                <a:solidFill>
                  <a:srgbClr val="FFFFFF"/>
                </a:solidFill>
              </a:rPr>
              <a:t>Access By</a:t>
            </a:r>
            <a:endParaRPr lang="en-US" sz="1150" dirty="0"/>
          </a:p>
        </p:txBody>
      </p:sp>
      <p:sp>
        <p:nvSpPr>
          <p:cNvPr id="14" name="Shape 12"/>
          <p:cNvSpPr/>
          <p:nvPr/>
        </p:nvSpPr>
        <p:spPr>
          <a:xfrm>
            <a:off x="6675120" y="868680"/>
            <a:ext cx="2286000" cy="475488"/>
          </a:xfrm>
          <a:prstGeom prst="rect">
            <a:avLst/>
          </a:prstGeom>
          <a:solidFill>
            <a:srgbClr val="1E293B"/>
          </a:solidFill>
          <a:ln w="12700">
            <a:solidFill>
              <a:srgbClr val="FFFFFF"/>
            </a:solidFill>
            <a:prstDash val="solid"/>
          </a:ln>
        </p:spPr>
      </p:sp>
      <p:sp>
        <p:nvSpPr>
          <p:cNvPr id="15" name="Text 13"/>
          <p:cNvSpPr/>
          <p:nvPr/>
        </p:nvSpPr>
        <p:spPr>
          <a:xfrm>
            <a:off x="6720840" y="896112"/>
            <a:ext cx="2194560" cy="411480"/>
          </a:xfrm>
          <a:prstGeom prst="rect">
            <a:avLst/>
          </a:prstGeom>
          <a:noFill/>
          <a:ln/>
        </p:spPr>
        <p:txBody>
          <a:bodyPr wrap="square" rtlCol="0" anchor="ctr"/>
          <a:lstStyle/>
          <a:p>
            <a:pPr algn="ctr" indent="0" marL="0">
              <a:buNone/>
            </a:pPr>
            <a:r>
              <a:rPr lang="en-US" sz="1150" b="1" dirty="0">
                <a:solidFill>
                  <a:srgbClr val="FFFFFF"/>
                </a:solidFill>
              </a:rPr>
              <a:t>Best Used For</a:t>
            </a:r>
            <a:endParaRPr lang="en-US" sz="1150" dirty="0"/>
          </a:p>
        </p:txBody>
      </p:sp>
      <p:sp>
        <p:nvSpPr>
          <p:cNvPr id="16" name="Shape 14"/>
          <p:cNvSpPr/>
          <p:nvPr/>
        </p:nvSpPr>
        <p:spPr>
          <a:xfrm>
            <a:off x="182880" y="1344168"/>
            <a:ext cx="1325880" cy="713232"/>
          </a:xfrm>
          <a:prstGeom prst="rect">
            <a:avLst/>
          </a:prstGeom>
          <a:solidFill>
            <a:srgbClr val="DBEAFE"/>
          </a:solidFill>
          <a:ln w="12700">
            <a:solidFill>
              <a:srgbClr val="E2E8F0"/>
            </a:solidFill>
            <a:prstDash val="solid"/>
          </a:ln>
        </p:spPr>
      </p:sp>
      <p:sp>
        <p:nvSpPr>
          <p:cNvPr id="17" name="Text 15"/>
          <p:cNvSpPr/>
          <p:nvPr/>
        </p:nvSpPr>
        <p:spPr>
          <a:xfrm>
            <a:off x="228600" y="1344168"/>
            <a:ext cx="1234440" cy="713232"/>
          </a:xfrm>
          <a:prstGeom prst="rect">
            <a:avLst/>
          </a:prstGeom>
          <a:noFill/>
          <a:ln/>
        </p:spPr>
        <p:txBody>
          <a:bodyPr wrap="square" rtlCol="0" anchor="ctr"/>
          <a:lstStyle/>
          <a:p>
            <a:pPr algn="ctr" indent="0" marL="0">
              <a:buNone/>
            </a:pPr>
            <a:r>
              <a:rPr lang="en-US" sz="1300" b="1" dirty="0">
                <a:solidFill>
                  <a:srgbClr val="2563EB"/>
                </a:solidFill>
              </a:rPr>
              <a:t>List</a:t>
            </a:r>
            <a:endParaRPr lang="en-US" sz="1300" dirty="0"/>
          </a:p>
        </p:txBody>
      </p:sp>
      <p:sp>
        <p:nvSpPr>
          <p:cNvPr id="18" name="Shape 16"/>
          <p:cNvSpPr/>
          <p:nvPr/>
        </p:nvSpPr>
        <p:spPr>
          <a:xfrm>
            <a:off x="1508760" y="1344168"/>
            <a:ext cx="1188720" cy="713232"/>
          </a:xfrm>
          <a:prstGeom prst="rect">
            <a:avLst/>
          </a:prstGeom>
          <a:solidFill>
            <a:srgbClr val="FFFFFF"/>
          </a:solidFill>
          <a:ln w="12700">
            <a:solidFill>
              <a:srgbClr val="E2E8F0"/>
            </a:solidFill>
            <a:prstDash val="solid"/>
          </a:ln>
        </p:spPr>
      </p:sp>
      <p:sp>
        <p:nvSpPr>
          <p:cNvPr id="19" name="Text 17"/>
          <p:cNvSpPr/>
          <p:nvPr/>
        </p:nvSpPr>
        <p:spPr>
          <a:xfrm>
            <a:off x="1554480" y="1344168"/>
            <a:ext cx="1097280" cy="713232"/>
          </a:xfrm>
          <a:prstGeom prst="rect">
            <a:avLst/>
          </a:prstGeom>
          <a:noFill/>
          <a:ln/>
        </p:spPr>
        <p:txBody>
          <a:bodyPr wrap="square" rtlCol="0" anchor="ctr"/>
          <a:lstStyle/>
          <a:p>
            <a:pPr algn="ctr" indent="0" marL="0">
              <a:buNone/>
            </a:pPr>
            <a:r>
              <a:rPr lang="en-US" sz="1150" dirty="0">
                <a:solidFill>
                  <a:srgbClr val="1E293B"/>
                </a:solidFill>
              </a:rPr>
              <a:t>Yes</a:t>
            </a:r>
            <a:endParaRPr lang="en-US" sz="1150" dirty="0"/>
          </a:p>
        </p:txBody>
      </p:sp>
      <p:sp>
        <p:nvSpPr>
          <p:cNvPr id="20" name="Shape 18"/>
          <p:cNvSpPr/>
          <p:nvPr/>
        </p:nvSpPr>
        <p:spPr>
          <a:xfrm>
            <a:off x="2697480" y="1344168"/>
            <a:ext cx="1280160" cy="713232"/>
          </a:xfrm>
          <a:prstGeom prst="rect">
            <a:avLst/>
          </a:prstGeom>
          <a:solidFill>
            <a:srgbClr val="FFFFFF"/>
          </a:solidFill>
          <a:ln w="12700">
            <a:solidFill>
              <a:srgbClr val="E2E8F0"/>
            </a:solidFill>
            <a:prstDash val="solid"/>
          </a:ln>
        </p:spPr>
      </p:sp>
      <p:sp>
        <p:nvSpPr>
          <p:cNvPr id="21" name="Text 19"/>
          <p:cNvSpPr/>
          <p:nvPr/>
        </p:nvSpPr>
        <p:spPr>
          <a:xfrm>
            <a:off x="2743200" y="1344168"/>
            <a:ext cx="1188720" cy="713232"/>
          </a:xfrm>
          <a:prstGeom prst="rect">
            <a:avLst/>
          </a:prstGeom>
          <a:noFill/>
          <a:ln/>
        </p:spPr>
        <p:txBody>
          <a:bodyPr wrap="square" rtlCol="0" anchor="ctr"/>
          <a:lstStyle/>
          <a:p>
            <a:pPr algn="ctr" indent="0" marL="0">
              <a:buNone/>
            </a:pPr>
            <a:r>
              <a:rPr lang="en-US" sz="1150" dirty="0">
                <a:solidFill>
                  <a:srgbClr val="1E293B"/>
                </a:solidFill>
              </a:rPr>
              <a:t>Yes</a:t>
            </a:r>
            <a:endParaRPr lang="en-US" sz="1150" dirty="0"/>
          </a:p>
        </p:txBody>
      </p:sp>
      <p:sp>
        <p:nvSpPr>
          <p:cNvPr id="22" name="Shape 20"/>
          <p:cNvSpPr/>
          <p:nvPr/>
        </p:nvSpPr>
        <p:spPr>
          <a:xfrm>
            <a:off x="3977640" y="1344168"/>
            <a:ext cx="1280160" cy="713232"/>
          </a:xfrm>
          <a:prstGeom prst="rect">
            <a:avLst/>
          </a:prstGeom>
          <a:solidFill>
            <a:srgbClr val="FFFFFF"/>
          </a:solidFill>
          <a:ln w="12700">
            <a:solidFill>
              <a:srgbClr val="E2E8F0"/>
            </a:solidFill>
            <a:prstDash val="solid"/>
          </a:ln>
        </p:spPr>
      </p:sp>
      <p:sp>
        <p:nvSpPr>
          <p:cNvPr id="23" name="Text 21"/>
          <p:cNvSpPr/>
          <p:nvPr/>
        </p:nvSpPr>
        <p:spPr>
          <a:xfrm>
            <a:off x="4023360" y="1344168"/>
            <a:ext cx="1188720" cy="713232"/>
          </a:xfrm>
          <a:prstGeom prst="rect">
            <a:avLst/>
          </a:prstGeom>
          <a:noFill/>
          <a:ln/>
        </p:spPr>
        <p:txBody>
          <a:bodyPr wrap="square" rtlCol="0" anchor="ctr"/>
          <a:lstStyle/>
          <a:p>
            <a:pPr algn="ctr" indent="0" marL="0">
              <a:buNone/>
            </a:pPr>
            <a:r>
              <a:rPr lang="en-US" sz="1150" dirty="0">
                <a:solidFill>
                  <a:srgbClr val="1E293B"/>
                </a:solidFill>
              </a:rPr>
              <a:t>Yes</a:t>
            </a:r>
            <a:endParaRPr lang="en-US" sz="1150" dirty="0"/>
          </a:p>
        </p:txBody>
      </p:sp>
      <p:sp>
        <p:nvSpPr>
          <p:cNvPr id="24" name="Shape 22"/>
          <p:cNvSpPr/>
          <p:nvPr/>
        </p:nvSpPr>
        <p:spPr>
          <a:xfrm>
            <a:off x="5257800" y="1344168"/>
            <a:ext cx="1417320" cy="713232"/>
          </a:xfrm>
          <a:prstGeom prst="rect">
            <a:avLst/>
          </a:prstGeom>
          <a:solidFill>
            <a:srgbClr val="FFFFFF"/>
          </a:solidFill>
          <a:ln w="12700">
            <a:solidFill>
              <a:srgbClr val="E2E8F0"/>
            </a:solidFill>
            <a:prstDash val="solid"/>
          </a:ln>
        </p:spPr>
      </p:sp>
      <p:sp>
        <p:nvSpPr>
          <p:cNvPr id="25" name="Text 23"/>
          <p:cNvSpPr/>
          <p:nvPr/>
        </p:nvSpPr>
        <p:spPr>
          <a:xfrm>
            <a:off x="5303520" y="1344168"/>
            <a:ext cx="1325880" cy="713232"/>
          </a:xfrm>
          <a:prstGeom prst="rect">
            <a:avLst/>
          </a:prstGeom>
          <a:noFill/>
          <a:ln/>
        </p:spPr>
        <p:txBody>
          <a:bodyPr wrap="square" rtlCol="0" anchor="ctr"/>
          <a:lstStyle/>
          <a:p>
            <a:pPr algn="ctr" indent="0" marL="0">
              <a:buNone/>
            </a:pPr>
            <a:r>
              <a:rPr lang="en-US" sz="1150" dirty="0">
                <a:solidFill>
                  <a:srgbClr val="1E293B"/>
                </a:solidFill>
              </a:rPr>
              <a:t>Index</a:t>
            </a:r>
            <a:endParaRPr lang="en-US" sz="1150" dirty="0"/>
          </a:p>
        </p:txBody>
      </p:sp>
      <p:sp>
        <p:nvSpPr>
          <p:cNvPr id="26" name="Shape 24"/>
          <p:cNvSpPr/>
          <p:nvPr/>
        </p:nvSpPr>
        <p:spPr>
          <a:xfrm>
            <a:off x="6675120" y="1344168"/>
            <a:ext cx="2286000" cy="713232"/>
          </a:xfrm>
          <a:prstGeom prst="rect">
            <a:avLst/>
          </a:prstGeom>
          <a:solidFill>
            <a:srgbClr val="FFFFFF"/>
          </a:solidFill>
          <a:ln w="12700">
            <a:solidFill>
              <a:srgbClr val="E2E8F0"/>
            </a:solidFill>
            <a:prstDash val="solid"/>
          </a:ln>
        </p:spPr>
      </p:sp>
      <p:sp>
        <p:nvSpPr>
          <p:cNvPr id="27" name="Text 25"/>
          <p:cNvSpPr/>
          <p:nvPr/>
        </p:nvSpPr>
        <p:spPr>
          <a:xfrm>
            <a:off x="6720840" y="1344168"/>
            <a:ext cx="2194560" cy="713232"/>
          </a:xfrm>
          <a:prstGeom prst="rect">
            <a:avLst/>
          </a:prstGeom>
          <a:noFill/>
          <a:ln/>
        </p:spPr>
        <p:txBody>
          <a:bodyPr wrap="square" rtlCol="0" anchor="ctr"/>
          <a:lstStyle/>
          <a:p>
            <a:pPr algn="ctr" indent="0" marL="0">
              <a:buNone/>
            </a:pPr>
            <a:r>
              <a:rPr lang="en-US" sz="1150" dirty="0">
                <a:solidFill>
                  <a:srgbClr val="1E293B"/>
                </a:solidFill>
              </a:rPr>
              <a:t>Flexible lists</a:t>
            </a:r>
            <a:endParaRPr lang="en-US" sz="1150" dirty="0"/>
          </a:p>
        </p:txBody>
      </p:sp>
      <p:sp>
        <p:nvSpPr>
          <p:cNvPr id="28" name="Shape 26"/>
          <p:cNvSpPr/>
          <p:nvPr/>
        </p:nvSpPr>
        <p:spPr>
          <a:xfrm>
            <a:off x="182880" y="2075688"/>
            <a:ext cx="1325880" cy="713232"/>
          </a:xfrm>
          <a:prstGeom prst="rect">
            <a:avLst/>
          </a:prstGeom>
          <a:solidFill>
            <a:srgbClr val="CFFAFE"/>
          </a:solidFill>
          <a:ln w="12700">
            <a:solidFill>
              <a:srgbClr val="E2E8F0"/>
            </a:solidFill>
            <a:prstDash val="solid"/>
          </a:ln>
        </p:spPr>
      </p:sp>
      <p:sp>
        <p:nvSpPr>
          <p:cNvPr id="29" name="Text 27"/>
          <p:cNvSpPr/>
          <p:nvPr/>
        </p:nvSpPr>
        <p:spPr>
          <a:xfrm>
            <a:off x="228600" y="2075688"/>
            <a:ext cx="1234440" cy="713232"/>
          </a:xfrm>
          <a:prstGeom prst="rect">
            <a:avLst/>
          </a:prstGeom>
          <a:noFill/>
          <a:ln/>
        </p:spPr>
        <p:txBody>
          <a:bodyPr wrap="square" rtlCol="0" anchor="ctr"/>
          <a:lstStyle/>
          <a:p>
            <a:pPr algn="ctr" indent="0" marL="0">
              <a:buNone/>
            </a:pPr>
            <a:r>
              <a:rPr lang="en-US" sz="1300" b="1" dirty="0">
                <a:solidFill>
                  <a:srgbClr val="0891B2"/>
                </a:solidFill>
              </a:rPr>
              <a:t>Tuple</a:t>
            </a:r>
            <a:endParaRPr lang="en-US" sz="1300" dirty="0"/>
          </a:p>
        </p:txBody>
      </p:sp>
      <p:sp>
        <p:nvSpPr>
          <p:cNvPr id="30" name="Shape 28"/>
          <p:cNvSpPr/>
          <p:nvPr/>
        </p:nvSpPr>
        <p:spPr>
          <a:xfrm>
            <a:off x="1508760" y="2075688"/>
            <a:ext cx="1188720" cy="713232"/>
          </a:xfrm>
          <a:prstGeom prst="rect">
            <a:avLst/>
          </a:prstGeom>
          <a:solidFill>
            <a:srgbClr val="FFFFFF"/>
          </a:solidFill>
          <a:ln w="12700">
            <a:solidFill>
              <a:srgbClr val="E2E8F0"/>
            </a:solidFill>
            <a:prstDash val="solid"/>
          </a:ln>
        </p:spPr>
      </p:sp>
      <p:sp>
        <p:nvSpPr>
          <p:cNvPr id="31" name="Text 29"/>
          <p:cNvSpPr/>
          <p:nvPr/>
        </p:nvSpPr>
        <p:spPr>
          <a:xfrm>
            <a:off x="1554480" y="2075688"/>
            <a:ext cx="1097280" cy="713232"/>
          </a:xfrm>
          <a:prstGeom prst="rect">
            <a:avLst/>
          </a:prstGeom>
          <a:noFill/>
          <a:ln/>
        </p:spPr>
        <p:txBody>
          <a:bodyPr wrap="square" rtlCol="0" anchor="ctr"/>
          <a:lstStyle/>
          <a:p>
            <a:pPr algn="ctr" indent="0" marL="0">
              <a:buNone/>
            </a:pPr>
            <a:r>
              <a:rPr lang="en-US" sz="1150" dirty="0">
                <a:solidFill>
                  <a:srgbClr val="1E293B"/>
                </a:solidFill>
              </a:rPr>
              <a:t>Yes</a:t>
            </a:r>
            <a:endParaRPr lang="en-US" sz="1150" dirty="0"/>
          </a:p>
        </p:txBody>
      </p:sp>
      <p:sp>
        <p:nvSpPr>
          <p:cNvPr id="32" name="Shape 30"/>
          <p:cNvSpPr/>
          <p:nvPr/>
        </p:nvSpPr>
        <p:spPr>
          <a:xfrm>
            <a:off x="2697480" y="2075688"/>
            <a:ext cx="1280160" cy="713232"/>
          </a:xfrm>
          <a:prstGeom prst="rect">
            <a:avLst/>
          </a:prstGeom>
          <a:solidFill>
            <a:srgbClr val="FFFFFF"/>
          </a:solidFill>
          <a:ln w="12700">
            <a:solidFill>
              <a:srgbClr val="E2E8F0"/>
            </a:solidFill>
            <a:prstDash val="solid"/>
          </a:ln>
        </p:spPr>
      </p:sp>
      <p:sp>
        <p:nvSpPr>
          <p:cNvPr id="33" name="Text 31"/>
          <p:cNvSpPr/>
          <p:nvPr/>
        </p:nvSpPr>
        <p:spPr>
          <a:xfrm>
            <a:off x="2743200" y="2075688"/>
            <a:ext cx="1188720" cy="713232"/>
          </a:xfrm>
          <a:prstGeom prst="rect">
            <a:avLst/>
          </a:prstGeom>
          <a:noFill/>
          <a:ln/>
        </p:spPr>
        <p:txBody>
          <a:bodyPr wrap="square" rtlCol="0" anchor="ctr"/>
          <a:lstStyle/>
          <a:p>
            <a:pPr algn="ctr" indent="0" marL="0">
              <a:buNone/>
            </a:pPr>
            <a:r>
              <a:rPr lang="en-US" sz="1150" dirty="0">
                <a:solidFill>
                  <a:srgbClr val="1E293B"/>
                </a:solidFill>
              </a:rPr>
              <a:t>Yes</a:t>
            </a:r>
            <a:endParaRPr lang="en-US" sz="1150" dirty="0"/>
          </a:p>
        </p:txBody>
      </p:sp>
      <p:sp>
        <p:nvSpPr>
          <p:cNvPr id="34" name="Shape 32"/>
          <p:cNvSpPr/>
          <p:nvPr/>
        </p:nvSpPr>
        <p:spPr>
          <a:xfrm>
            <a:off x="3977640" y="2075688"/>
            <a:ext cx="1280160" cy="713232"/>
          </a:xfrm>
          <a:prstGeom prst="rect">
            <a:avLst/>
          </a:prstGeom>
          <a:solidFill>
            <a:srgbClr val="FFFFFF"/>
          </a:solidFill>
          <a:ln w="12700">
            <a:solidFill>
              <a:srgbClr val="E2E8F0"/>
            </a:solidFill>
            <a:prstDash val="solid"/>
          </a:ln>
        </p:spPr>
      </p:sp>
      <p:sp>
        <p:nvSpPr>
          <p:cNvPr id="35" name="Text 33"/>
          <p:cNvSpPr/>
          <p:nvPr/>
        </p:nvSpPr>
        <p:spPr>
          <a:xfrm>
            <a:off x="4023360" y="2075688"/>
            <a:ext cx="1188720" cy="713232"/>
          </a:xfrm>
          <a:prstGeom prst="rect">
            <a:avLst/>
          </a:prstGeom>
          <a:noFill/>
          <a:ln/>
        </p:spPr>
        <p:txBody>
          <a:bodyPr wrap="square" rtlCol="0" anchor="ctr"/>
          <a:lstStyle/>
          <a:p>
            <a:pPr algn="ctr" indent="0" marL="0">
              <a:buNone/>
            </a:pPr>
            <a:r>
              <a:rPr lang="en-US" sz="1150" dirty="0">
                <a:solidFill>
                  <a:srgbClr val="1E293B"/>
                </a:solidFill>
              </a:rPr>
              <a:t>No</a:t>
            </a:r>
            <a:endParaRPr lang="en-US" sz="1150" dirty="0"/>
          </a:p>
        </p:txBody>
      </p:sp>
      <p:sp>
        <p:nvSpPr>
          <p:cNvPr id="36" name="Shape 34"/>
          <p:cNvSpPr/>
          <p:nvPr/>
        </p:nvSpPr>
        <p:spPr>
          <a:xfrm>
            <a:off x="5257800" y="2075688"/>
            <a:ext cx="1417320" cy="713232"/>
          </a:xfrm>
          <a:prstGeom prst="rect">
            <a:avLst/>
          </a:prstGeom>
          <a:solidFill>
            <a:srgbClr val="FFFFFF"/>
          </a:solidFill>
          <a:ln w="12700">
            <a:solidFill>
              <a:srgbClr val="E2E8F0"/>
            </a:solidFill>
            <a:prstDash val="solid"/>
          </a:ln>
        </p:spPr>
      </p:sp>
      <p:sp>
        <p:nvSpPr>
          <p:cNvPr id="37" name="Text 35"/>
          <p:cNvSpPr/>
          <p:nvPr/>
        </p:nvSpPr>
        <p:spPr>
          <a:xfrm>
            <a:off x="5303520" y="2075688"/>
            <a:ext cx="1325880" cy="713232"/>
          </a:xfrm>
          <a:prstGeom prst="rect">
            <a:avLst/>
          </a:prstGeom>
          <a:noFill/>
          <a:ln/>
        </p:spPr>
        <p:txBody>
          <a:bodyPr wrap="square" rtlCol="0" anchor="ctr"/>
          <a:lstStyle/>
          <a:p>
            <a:pPr algn="ctr" indent="0" marL="0">
              <a:buNone/>
            </a:pPr>
            <a:r>
              <a:rPr lang="en-US" sz="1150" dirty="0">
                <a:solidFill>
                  <a:srgbClr val="1E293B"/>
                </a:solidFill>
              </a:rPr>
              <a:t>Index</a:t>
            </a:r>
            <a:endParaRPr lang="en-US" sz="1150" dirty="0"/>
          </a:p>
        </p:txBody>
      </p:sp>
      <p:sp>
        <p:nvSpPr>
          <p:cNvPr id="38" name="Shape 36"/>
          <p:cNvSpPr/>
          <p:nvPr/>
        </p:nvSpPr>
        <p:spPr>
          <a:xfrm>
            <a:off x="6675120" y="2075688"/>
            <a:ext cx="2286000" cy="713232"/>
          </a:xfrm>
          <a:prstGeom prst="rect">
            <a:avLst/>
          </a:prstGeom>
          <a:solidFill>
            <a:srgbClr val="FFFFFF"/>
          </a:solidFill>
          <a:ln w="12700">
            <a:solidFill>
              <a:srgbClr val="E2E8F0"/>
            </a:solidFill>
            <a:prstDash val="solid"/>
          </a:ln>
        </p:spPr>
      </p:sp>
      <p:sp>
        <p:nvSpPr>
          <p:cNvPr id="39" name="Text 37"/>
          <p:cNvSpPr/>
          <p:nvPr/>
        </p:nvSpPr>
        <p:spPr>
          <a:xfrm>
            <a:off x="6720840" y="2075688"/>
            <a:ext cx="2194560" cy="713232"/>
          </a:xfrm>
          <a:prstGeom prst="rect">
            <a:avLst/>
          </a:prstGeom>
          <a:noFill/>
          <a:ln/>
        </p:spPr>
        <p:txBody>
          <a:bodyPr wrap="square" rtlCol="0" anchor="ctr"/>
          <a:lstStyle/>
          <a:p>
            <a:pPr algn="ctr" indent="0" marL="0">
              <a:buNone/>
            </a:pPr>
            <a:r>
              <a:rPr lang="en-US" sz="1150" dirty="0">
                <a:solidFill>
                  <a:srgbClr val="1E293B"/>
                </a:solidFill>
              </a:rPr>
              <a:t>Fixed data</a:t>
            </a:r>
            <a:endParaRPr lang="en-US" sz="1150" dirty="0"/>
          </a:p>
        </p:txBody>
      </p:sp>
      <p:sp>
        <p:nvSpPr>
          <p:cNvPr id="40" name="Shape 38"/>
          <p:cNvSpPr/>
          <p:nvPr/>
        </p:nvSpPr>
        <p:spPr>
          <a:xfrm>
            <a:off x="182880" y="2807208"/>
            <a:ext cx="1325880" cy="713232"/>
          </a:xfrm>
          <a:prstGeom prst="rect">
            <a:avLst/>
          </a:prstGeom>
          <a:solidFill>
            <a:srgbClr val="EDE9FE"/>
          </a:solidFill>
          <a:ln w="12700">
            <a:solidFill>
              <a:srgbClr val="E2E8F0"/>
            </a:solidFill>
            <a:prstDash val="solid"/>
          </a:ln>
        </p:spPr>
      </p:sp>
      <p:sp>
        <p:nvSpPr>
          <p:cNvPr id="41" name="Text 39"/>
          <p:cNvSpPr/>
          <p:nvPr/>
        </p:nvSpPr>
        <p:spPr>
          <a:xfrm>
            <a:off x="228600" y="2807208"/>
            <a:ext cx="1234440" cy="713232"/>
          </a:xfrm>
          <a:prstGeom prst="rect">
            <a:avLst/>
          </a:prstGeom>
          <a:noFill/>
          <a:ln/>
        </p:spPr>
        <p:txBody>
          <a:bodyPr wrap="square" rtlCol="0" anchor="ctr"/>
          <a:lstStyle/>
          <a:p>
            <a:pPr algn="ctr" indent="0" marL="0">
              <a:buNone/>
            </a:pPr>
            <a:r>
              <a:rPr lang="en-US" sz="1300" b="1" dirty="0">
                <a:solidFill>
                  <a:srgbClr val="7C3AED"/>
                </a:solidFill>
              </a:rPr>
              <a:t>Set</a:t>
            </a:r>
            <a:endParaRPr lang="en-US" sz="1300" dirty="0"/>
          </a:p>
        </p:txBody>
      </p:sp>
      <p:sp>
        <p:nvSpPr>
          <p:cNvPr id="42" name="Shape 40"/>
          <p:cNvSpPr/>
          <p:nvPr/>
        </p:nvSpPr>
        <p:spPr>
          <a:xfrm>
            <a:off x="1508760" y="2807208"/>
            <a:ext cx="1188720" cy="713232"/>
          </a:xfrm>
          <a:prstGeom prst="rect">
            <a:avLst/>
          </a:prstGeom>
          <a:solidFill>
            <a:srgbClr val="FFFFFF"/>
          </a:solidFill>
          <a:ln w="12700">
            <a:solidFill>
              <a:srgbClr val="E2E8F0"/>
            </a:solidFill>
            <a:prstDash val="solid"/>
          </a:ln>
        </p:spPr>
      </p:sp>
      <p:sp>
        <p:nvSpPr>
          <p:cNvPr id="43" name="Text 41"/>
          <p:cNvSpPr/>
          <p:nvPr/>
        </p:nvSpPr>
        <p:spPr>
          <a:xfrm>
            <a:off x="1554480" y="2807208"/>
            <a:ext cx="1097280" cy="713232"/>
          </a:xfrm>
          <a:prstGeom prst="rect">
            <a:avLst/>
          </a:prstGeom>
          <a:noFill/>
          <a:ln/>
        </p:spPr>
        <p:txBody>
          <a:bodyPr wrap="square" rtlCol="0" anchor="ctr"/>
          <a:lstStyle/>
          <a:p>
            <a:pPr algn="ctr" indent="0" marL="0">
              <a:buNone/>
            </a:pPr>
            <a:r>
              <a:rPr lang="en-US" sz="1150" dirty="0">
                <a:solidFill>
                  <a:srgbClr val="1E293B"/>
                </a:solidFill>
              </a:rPr>
              <a:t>No</a:t>
            </a:r>
            <a:endParaRPr lang="en-US" sz="1150" dirty="0"/>
          </a:p>
        </p:txBody>
      </p:sp>
      <p:sp>
        <p:nvSpPr>
          <p:cNvPr id="44" name="Shape 42"/>
          <p:cNvSpPr/>
          <p:nvPr/>
        </p:nvSpPr>
        <p:spPr>
          <a:xfrm>
            <a:off x="2697480" y="2807208"/>
            <a:ext cx="1280160" cy="713232"/>
          </a:xfrm>
          <a:prstGeom prst="rect">
            <a:avLst/>
          </a:prstGeom>
          <a:solidFill>
            <a:srgbClr val="FFFFFF"/>
          </a:solidFill>
          <a:ln w="12700">
            <a:solidFill>
              <a:srgbClr val="E2E8F0"/>
            </a:solidFill>
            <a:prstDash val="solid"/>
          </a:ln>
        </p:spPr>
      </p:sp>
      <p:sp>
        <p:nvSpPr>
          <p:cNvPr id="45" name="Text 43"/>
          <p:cNvSpPr/>
          <p:nvPr/>
        </p:nvSpPr>
        <p:spPr>
          <a:xfrm>
            <a:off x="2743200" y="2807208"/>
            <a:ext cx="1188720" cy="713232"/>
          </a:xfrm>
          <a:prstGeom prst="rect">
            <a:avLst/>
          </a:prstGeom>
          <a:noFill/>
          <a:ln/>
        </p:spPr>
        <p:txBody>
          <a:bodyPr wrap="square" rtlCol="0" anchor="ctr"/>
          <a:lstStyle/>
          <a:p>
            <a:pPr algn="ctr" indent="0" marL="0">
              <a:buNone/>
            </a:pPr>
            <a:r>
              <a:rPr lang="en-US" sz="1150" dirty="0">
                <a:solidFill>
                  <a:srgbClr val="1E293B"/>
                </a:solidFill>
              </a:rPr>
              <a:t>No</a:t>
            </a:r>
            <a:endParaRPr lang="en-US" sz="1150" dirty="0"/>
          </a:p>
        </p:txBody>
      </p:sp>
      <p:sp>
        <p:nvSpPr>
          <p:cNvPr id="46" name="Shape 44"/>
          <p:cNvSpPr/>
          <p:nvPr/>
        </p:nvSpPr>
        <p:spPr>
          <a:xfrm>
            <a:off x="3977640" y="2807208"/>
            <a:ext cx="1280160" cy="713232"/>
          </a:xfrm>
          <a:prstGeom prst="rect">
            <a:avLst/>
          </a:prstGeom>
          <a:solidFill>
            <a:srgbClr val="FFFFFF"/>
          </a:solidFill>
          <a:ln w="12700">
            <a:solidFill>
              <a:srgbClr val="E2E8F0"/>
            </a:solidFill>
            <a:prstDash val="solid"/>
          </a:ln>
        </p:spPr>
      </p:sp>
      <p:sp>
        <p:nvSpPr>
          <p:cNvPr id="47" name="Text 45"/>
          <p:cNvSpPr/>
          <p:nvPr/>
        </p:nvSpPr>
        <p:spPr>
          <a:xfrm>
            <a:off x="4023360" y="2807208"/>
            <a:ext cx="1188720" cy="713232"/>
          </a:xfrm>
          <a:prstGeom prst="rect">
            <a:avLst/>
          </a:prstGeom>
          <a:noFill/>
          <a:ln/>
        </p:spPr>
        <p:txBody>
          <a:bodyPr wrap="square" rtlCol="0" anchor="ctr"/>
          <a:lstStyle/>
          <a:p>
            <a:pPr algn="ctr" indent="0" marL="0">
              <a:buNone/>
            </a:pPr>
            <a:r>
              <a:rPr lang="en-US" sz="1150" dirty="0">
                <a:solidFill>
                  <a:srgbClr val="1E293B"/>
                </a:solidFill>
              </a:rPr>
              <a:t>Yes</a:t>
            </a:r>
            <a:endParaRPr lang="en-US" sz="1150" dirty="0"/>
          </a:p>
        </p:txBody>
      </p:sp>
      <p:sp>
        <p:nvSpPr>
          <p:cNvPr id="48" name="Shape 46"/>
          <p:cNvSpPr/>
          <p:nvPr/>
        </p:nvSpPr>
        <p:spPr>
          <a:xfrm>
            <a:off x="5257800" y="2807208"/>
            <a:ext cx="1417320" cy="713232"/>
          </a:xfrm>
          <a:prstGeom prst="rect">
            <a:avLst/>
          </a:prstGeom>
          <a:solidFill>
            <a:srgbClr val="FFFFFF"/>
          </a:solidFill>
          <a:ln w="12700">
            <a:solidFill>
              <a:srgbClr val="E2E8F0"/>
            </a:solidFill>
            <a:prstDash val="solid"/>
          </a:ln>
        </p:spPr>
      </p:sp>
      <p:sp>
        <p:nvSpPr>
          <p:cNvPr id="49" name="Text 47"/>
          <p:cNvSpPr/>
          <p:nvPr/>
        </p:nvSpPr>
        <p:spPr>
          <a:xfrm>
            <a:off x="5303520" y="2807208"/>
            <a:ext cx="1325880" cy="713232"/>
          </a:xfrm>
          <a:prstGeom prst="rect">
            <a:avLst/>
          </a:prstGeom>
          <a:noFill/>
          <a:ln/>
        </p:spPr>
        <p:txBody>
          <a:bodyPr wrap="square" rtlCol="0" anchor="ctr"/>
          <a:lstStyle/>
          <a:p>
            <a:pPr algn="ctr" indent="0" marL="0">
              <a:buNone/>
            </a:pPr>
            <a:r>
              <a:rPr lang="en-US" sz="1150" dirty="0">
                <a:solidFill>
                  <a:srgbClr val="1E293B"/>
                </a:solidFill>
              </a:rPr>
              <a:t>— (no index)</a:t>
            </a:r>
            <a:endParaRPr lang="en-US" sz="1150" dirty="0"/>
          </a:p>
        </p:txBody>
      </p:sp>
      <p:sp>
        <p:nvSpPr>
          <p:cNvPr id="50" name="Shape 48"/>
          <p:cNvSpPr/>
          <p:nvPr/>
        </p:nvSpPr>
        <p:spPr>
          <a:xfrm>
            <a:off x="6675120" y="2807208"/>
            <a:ext cx="2286000" cy="713232"/>
          </a:xfrm>
          <a:prstGeom prst="rect">
            <a:avLst/>
          </a:prstGeom>
          <a:solidFill>
            <a:srgbClr val="FFFFFF"/>
          </a:solidFill>
          <a:ln w="12700">
            <a:solidFill>
              <a:srgbClr val="E2E8F0"/>
            </a:solidFill>
            <a:prstDash val="solid"/>
          </a:ln>
        </p:spPr>
      </p:sp>
      <p:sp>
        <p:nvSpPr>
          <p:cNvPr id="51" name="Text 49"/>
          <p:cNvSpPr/>
          <p:nvPr/>
        </p:nvSpPr>
        <p:spPr>
          <a:xfrm>
            <a:off x="6720840" y="2807208"/>
            <a:ext cx="2194560" cy="713232"/>
          </a:xfrm>
          <a:prstGeom prst="rect">
            <a:avLst/>
          </a:prstGeom>
          <a:noFill/>
          <a:ln/>
        </p:spPr>
        <p:txBody>
          <a:bodyPr wrap="square" rtlCol="0" anchor="ctr"/>
          <a:lstStyle/>
          <a:p>
            <a:pPr algn="ctr" indent="0" marL="0">
              <a:buNone/>
            </a:pPr>
            <a:r>
              <a:rPr lang="en-US" sz="1150" dirty="0">
                <a:solidFill>
                  <a:srgbClr val="1E293B"/>
                </a:solidFill>
              </a:rPr>
              <a:t>Unique data</a:t>
            </a:r>
            <a:endParaRPr lang="en-US" sz="1150" dirty="0"/>
          </a:p>
        </p:txBody>
      </p:sp>
      <p:sp>
        <p:nvSpPr>
          <p:cNvPr id="52" name="Shape 50"/>
          <p:cNvSpPr/>
          <p:nvPr/>
        </p:nvSpPr>
        <p:spPr>
          <a:xfrm>
            <a:off x="182880" y="3538728"/>
            <a:ext cx="1325880" cy="713232"/>
          </a:xfrm>
          <a:prstGeom prst="rect">
            <a:avLst/>
          </a:prstGeom>
          <a:solidFill>
            <a:srgbClr val="FEF3C7"/>
          </a:solidFill>
          <a:ln w="12700">
            <a:solidFill>
              <a:srgbClr val="E2E8F0"/>
            </a:solidFill>
            <a:prstDash val="solid"/>
          </a:ln>
        </p:spPr>
      </p:sp>
      <p:sp>
        <p:nvSpPr>
          <p:cNvPr id="53" name="Text 51"/>
          <p:cNvSpPr/>
          <p:nvPr/>
        </p:nvSpPr>
        <p:spPr>
          <a:xfrm>
            <a:off x="228600" y="3538728"/>
            <a:ext cx="1234440" cy="713232"/>
          </a:xfrm>
          <a:prstGeom prst="rect">
            <a:avLst/>
          </a:prstGeom>
          <a:noFill/>
          <a:ln/>
        </p:spPr>
        <p:txBody>
          <a:bodyPr wrap="square" rtlCol="0" anchor="ctr"/>
          <a:lstStyle/>
          <a:p>
            <a:pPr algn="ctr" indent="0" marL="0">
              <a:buNone/>
            </a:pPr>
            <a:r>
              <a:rPr lang="en-US" sz="1300" b="1" dirty="0">
                <a:solidFill>
                  <a:srgbClr val="D97706"/>
                </a:solidFill>
              </a:rPr>
              <a:t>Dictionary</a:t>
            </a:r>
            <a:endParaRPr lang="en-US" sz="1300" dirty="0"/>
          </a:p>
        </p:txBody>
      </p:sp>
      <p:sp>
        <p:nvSpPr>
          <p:cNvPr id="54" name="Shape 52"/>
          <p:cNvSpPr/>
          <p:nvPr/>
        </p:nvSpPr>
        <p:spPr>
          <a:xfrm>
            <a:off x="1508760" y="3538728"/>
            <a:ext cx="1188720" cy="713232"/>
          </a:xfrm>
          <a:prstGeom prst="rect">
            <a:avLst/>
          </a:prstGeom>
          <a:solidFill>
            <a:srgbClr val="FFFFFF"/>
          </a:solidFill>
          <a:ln w="12700">
            <a:solidFill>
              <a:srgbClr val="E2E8F0"/>
            </a:solidFill>
            <a:prstDash val="solid"/>
          </a:ln>
        </p:spPr>
      </p:sp>
      <p:sp>
        <p:nvSpPr>
          <p:cNvPr id="55" name="Text 53"/>
          <p:cNvSpPr/>
          <p:nvPr/>
        </p:nvSpPr>
        <p:spPr>
          <a:xfrm>
            <a:off x="1554480" y="3538728"/>
            <a:ext cx="1097280" cy="713232"/>
          </a:xfrm>
          <a:prstGeom prst="rect">
            <a:avLst/>
          </a:prstGeom>
          <a:noFill/>
          <a:ln/>
        </p:spPr>
        <p:txBody>
          <a:bodyPr wrap="square" rtlCol="0" anchor="ctr"/>
          <a:lstStyle/>
          <a:p>
            <a:pPr algn="ctr" indent="0" marL="0">
              <a:buNone/>
            </a:pPr>
            <a:r>
              <a:rPr lang="en-US" sz="1150" dirty="0">
                <a:solidFill>
                  <a:srgbClr val="1E293B"/>
                </a:solidFill>
              </a:rPr>
              <a:t>Yes (insertion)</a:t>
            </a:r>
            <a:endParaRPr lang="en-US" sz="1150" dirty="0"/>
          </a:p>
        </p:txBody>
      </p:sp>
      <p:sp>
        <p:nvSpPr>
          <p:cNvPr id="56" name="Shape 54"/>
          <p:cNvSpPr/>
          <p:nvPr/>
        </p:nvSpPr>
        <p:spPr>
          <a:xfrm>
            <a:off x="2697480" y="3538728"/>
            <a:ext cx="1280160" cy="713232"/>
          </a:xfrm>
          <a:prstGeom prst="rect">
            <a:avLst/>
          </a:prstGeom>
          <a:solidFill>
            <a:srgbClr val="FFFFFF"/>
          </a:solidFill>
          <a:ln w="12700">
            <a:solidFill>
              <a:srgbClr val="E2E8F0"/>
            </a:solidFill>
            <a:prstDash val="solid"/>
          </a:ln>
        </p:spPr>
      </p:sp>
      <p:sp>
        <p:nvSpPr>
          <p:cNvPr id="57" name="Text 55"/>
          <p:cNvSpPr/>
          <p:nvPr/>
        </p:nvSpPr>
        <p:spPr>
          <a:xfrm>
            <a:off x="2743200" y="3538728"/>
            <a:ext cx="1188720" cy="713232"/>
          </a:xfrm>
          <a:prstGeom prst="rect">
            <a:avLst/>
          </a:prstGeom>
          <a:noFill/>
          <a:ln/>
        </p:spPr>
        <p:txBody>
          <a:bodyPr wrap="square" rtlCol="0" anchor="ctr"/>
          <a:lstStyle/>
          <a:p>
            <a:pPr algn="ctr" indent="0" marL="0">
              <a:buNone/>
            </a:pPr>
            <a:r>
              <a:rPr lang="en-US" sz="1150" dirty="0">
                <a:solidFill>
                  <a:srgbClr val="1E293B"/>
                </a:solidFill>
              </a:rPr>
              <a:t>Keys: No</a:t>
            </a:r>
            <a:endParaRPr lang="en-US" sz="1150" dirty="0"/>
          </a:p>
        </p:txBody>
      </p:sp>
      <p:sp>
        <p:nvSpPr>
          <p:cNvPr id="58" name="Shape 56"/>
          <p:cNvSpPr/>
          <p:nvPr/>
        </p:nvSpPr>
        <p:spPr>
          <a:xfrm>
            <a:off x="3977640" y="3538728"/>
            <a:ext cx="1280160" cy="713232"/>
          </a:xfrm>
          <a:prstGeom prst="rect">
            <a:avLst/>
          </a:prstGeom>
          <a:solidFill>
            <a:srgbClr val="FFFFFF"/>
          </a:solidFill>
          <a:ln w="12700">
            <a:solidFill>
              <a:srgbClr val="E2E8F0"/>
            </a:solidFill>
            <a:prstDash val="solid"/>
          </a:ln>
        </p:spPr>
      </p:sp>
      <p:sp>
        <p:nvSpPr>
          <p:cNvPr id="59" name="Text 57"/>
          <p:cNvSpPr/>
          <p:nvPr/>
        </p:nvSpPr>
        <p:spPr>
          <a:xfrm>
            <a:off x="4023360" y="3538728"/>
            <a:ext cx="1188720" cy="713232"/>
          </a:xfrm>
          <a:prstGeom prst="rect">
            <a:avLst/>
          </a:prstGeom>
          <a:noFill/>
          <a:ln/>
        </p:spPr>
        <p:txBody>
          <a:bodyPr wrap="square" rtlCol="0" anchor="ctr"/>
          <a:lstStyle/>
          <a:p>
            <a:pPr algn="ctr" indent="0" marL="0">
              <a:buNone/>
            </a:pPr>
            <a:r>
              <a:rPr lang="en-US" sz="1150" dirty="0">
                <a:solidFill>
                  <a:srgbClr val="1E293B"/>
                </a:solidFill>
              </a:rPr>
              <a:t>Yes</a:t>
            </a:r>
            <a:endParaRPr lang="en-US" sz="1150" dirty="0"/>
          </a:p>
        </p:txBody>
      </p:sp>
      <p:sp>
        <p:nvSpPr>
          <p:cNvPr id="60" name="Shape 58"/>
          <p:cNvSpPr/>
          <p:nvPr/>
        </p:nvSpPr>
        <p:spPr>
          <a:xfrm>
            <a:off x="5257800" y="3538728"/>
            <a:ext cx="1417320" cy="713232"/>
          </a:xfrm>
          <a:prstGeom prst="rect">
            <a:avLst/>
          </a:prstGeom>
          <a:solidFill>
            <a:srgbClr val="FFFFFF"/>
          </a:solidFill>
          <a:ln w="12700">
            <a:solidFill>
              <a:srgbClr val="E2E8F0"/>
            </a:solidFill>
            <a:prstDash val="solid"/>
          </a:ln>
        </p:spPr>
      </p:sp>
      <p:sp>
        <p:nvSpPr>
          <p:cNvPr id="61" name="Text 59"/>
          <p:cNvSpPr/>
          <p:nvPr/>
        </p:nvSpPr>
        <p:spPr>
          <a:xfrm>
            <a:off x="5303520" y="3538728"/>
            <a:ext cx="1325880" cy="713232"/>
          </a:xfrm>
          <a:prstGeom prst="rect">
            <a:avLst/>
          </a:prstGeom>
          <a:noFill/>
          <a:ln/>
        </p:spPr>
        <p:txBody>
          <a:bodyPr wrap="square" rtlCol="0" anchor="ctr"/>
          <a:lstStyle/>
          <a:p>
            <a:pPr algn="ctr" indent="0" marL="0">
              <a:buNone/>
            </a:pPr>
            <a:r>
              <a:rPr lang="en-US" sz="1150" dirty="0">
                <a:solidFill>
                  <a:srgbClr val="1E293B"/>
                </a:solidFill>
              </a:rPr>
              <a:t>Key</a:t>
            </a:r>
            <a:endParaRPr lang="en-US" sz="1150" dirty="0"/>
          </a:p>
        </p:txBody>
      </p:sp>
      <p:sp>
        <p:nvSpPr>
          <p:cNvPr id="62" name="Shape 60"/>
          <p:cNvSpPr/>
          <p:nvPr/>
        </p:nvSpPr>
        <p:spPr>
          <a:xfrm>
            <a:off x="6675120" y="3538728"/>
            <a:ext cx="2286000" cy="713232"/>
          </a:xfrm>
          <a:prstGeom prst="rect">
            <a:avLst/>
          </a:prstGeom>
          <a:solidFill>
            <a:srgbClr val="FFFFFF"/>
          </a:solidFill>
          <a:ln w="12700">
            <a:solidFill>
              <a:srgbClr val="E2E8F0"/>
            </a:solidFill>
            <a:prstDash val="solid"/>
          </a:ln>
        </p:spPr>
      </p:sp>
      <p:sp>
        <p:nvSpPr>
          <p:cNvPr id="63" name="Text 61"/>
          <p:cNvSpPr/>
          <p:nvPr/>
        </p:nvSpPr>
        <p:spPr>
          <a:xfrm>
            <a:off x="6720840" y="3538728"/>
            <a:ext cx="2194560" cy="713232"/>
          </a:xfrm>
          <a:prstGeom prst="rect">
            <a:avLst/>
          </a:prstGeom>
          <a:noFill/>
          <a:ln/>
        </p:spPr>
        <p:txBody>
          <a:bodyPr wrap="square" rtlCol="0" anchor="ctr"/>
          <a:lstStyle/>
          <a:p>
            <a:pPr algn="ctr" indent="0" marL="0">
              <a:buNone/>
            </a:pPr>
            <a:r>
              <a:rPr lang="en-US" sz="1150" dirty="0">
                <a:solidFill>
                  <a:srgbClr val="1E293B"/>
                </a:solidFill>
              </a:rPr>
              <a:t>Key-value info</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A6B"/>
        </a:solidFill>
      </p:bgPr>
    </p:bg>
    <p:spTree>
      <p:nvGrpSpPr>
        <p:cNvPr id="1" name=""/>
        <p:cNvGrpSpPr/>
        <p:nvPr/>
      </p:nvGrpSpPr>
      <p:grpSpPr>
        <a:xfrm>
          <a:off x="0" y="0"/>
          <a:ext cx="0" cy="0"/>
          <a:chOff x="0" y="0"/>
          <a:chExt cx="0" cy="0"/>
        </a:xfrm>
      </p:grpSpPr>
      <p:sp>
        <p:nvSpPr>
          <p:cNvPr id="2" name="Shape 0"/>
          <p:cNvSpPr/>
          <p:nvPr/>
        </p:nvSpPr>
        <p:spPr>
          <a:xfrm>
            <a:off x="8046720" y="-274320"/>
            <a:ext cx="1828800" cy="1828800"/>
          </a:xfrm>
          <a:prstGeom prst="ellipse">
            <a:avLst/>
          </a:prstGeom>
          <a:solidFill>
            <a:srgbClr val="2563EB">
              <a:alpha val="30000"/>
            </a:srgbClr>
          </a:solidFill>
          <a:ln w="12700">
            <a:solidFill>
              <a:srgbClr val="2563EB">
                <a:alpha val="30000"/>
              </a:srgbClr>
            </a:solidFill>
            <a:prstDash val="solid"/>
          </a:ln>
        </p:spPr>
      </p:sp>
      <p:sp>
        <p:nvSpPr>
          <p:cNvPr id="3" name="Shape 1"/>
          <p:cNvSpPr/>
          <p:nvPr/>
        </p:nvSpPr>
        <p:spPr>
          <a:xfrm>
            <a:off x="-457200" y="3840480"/>
            <a:ext cx="1645920" cy="1645920"/>
          </a:xfrm>
          <a:prstGeom prst="ellipse">
            <a:avLst/>
          </a:prstGeom>
          <a:solidFill>
            <a:srgbClr val="0891B2">
              <a:alpha val="40000"/>
            </a:srgbClr>
          </a:solidFill>
          <a:ln w="12700">
            <a:solidFill>
              <a:srgbClr val="0891B2">
                <a:alpha val="40000"/>
              </a:srgbClr>
            </a:solidFill>
            <a:prstDash val="solid"/>
          </a:ln>
        </p:spPr>
      </p:sp>
      <p:sp>
        <p:nvSpPr>
          <p:cNvPr id="4" name="Text 2"/>
          <p:cNvSpPr/>
          <p:nvPr/>
        </p:nvSpPr>
        <p:spPr>
          <a:xfrm>
            <a:off x="548640" y="228600"/>
            <a:ext cx="8046720" cy="640080"/>
          </a:xfrm>
          <a:prstGeom prst="rect">
            <a:avLst/>
          </a:prstGeom>
          <a:noFill/>
          <a:ln/>
        </p:spPr>
        <p:txBody>
          <a:bodyPr wrap="square" rtlCol="0" anchor="ctr"/>
          <a:lstStyle/>
          <a:p>
            <a:pPr indent="0" marL="0">
              <a:buNone/>
            </a:pPr>
            <a:r>
              <a:rPr lang="en-US" sz="3000" b="1" dirty="0">
                <a:solidFill>
                  <a:srgbClr val="FFFFFF"/>
                </a:solidFill>
              </a:rPr>
              <a:t>Key Takeaways</a:t>
            </a:r>
            <a:endParaRPr lang="en-US" sz="3000" dirty="0"/>
          </a:p>
        </p:txBody>
      </p:sp>
      <p:sp>
        <p:nvSpPr>
          <p:cNvPr id="5" name="Shape 3"/>
          <p:cNvSpPr/>
          <p:nvPr/>
        </p:nvSpPr>
        <p:spPr>
          <a:xfrm>
            <a:off x="457200" y="960120"/>
            <a:ext cx="8229600" cy="749808"/>
          </a:xfrm>
          <a:prstGeom prst="rect">
            <a:avLst/>
          </a:prstGeom>
          <a:solidFill>
            <a:srgbClr val="FFFFFF">
              <a:alpha val="8000"/>
            </a:srgbClr>
          </a:solidFill>
          <a:ln w="19050">
            <a:solidFill>
              <a:srgbClr val="2563EB"/>
            </a:solidFill>
            <a:prstDash val="solid"/>
          </a:ln>
        </p:spPr>
      </p:sp>
      <p:sp>
        <p:nvSpPr>
          <p:cNvPr id="6" name="Shape 4"/>
          <p:cNvSpPr/>
          <p:nvPr/>
        </p:nvSpPr>
        <p:spPr>
          <a:xfrm>
            <a:off x="457200" y="960120"/>
            <a:ext cx="73152" cy="749808"/>
          </a:xfrm>
          <a:prstGeom prst="rect">
            <a:avLst/>
          </a:prstGeom>
          <a:solidFill>
            <a:srgbClr val="2563EB"/>
          </a:solidFill>
          <a:ln w="12700">
            <a:solidFill>
              <a:srgbClr val="2563EB"/>
            </a:solidFill>
            <a:prstDash val="solid"/>
          </a:ln>
        </p:spPr>
      </p:sp>
      <p:sp>
        <p:nvSpPr>
          <p:cNvPr id="7" name="Text 5"/>
          <p:cNvSpPr/>
          <p:nvPr/>
        </p:nvSpPr>
        <p:spPr>
          <a:xfrm>
            <a:off x="658368" y="1014984"/>
            <a:ext cx="2011680" cy="320040"/>
          </a:xfrm>
          <a:prstGeom prst="rect">
            <a:avLst/>
          </a:prstGeom>
          <a:noFill/>
          <a:ln/>
        </p:spPr>
        <p:txBody>
          <a:bodyPr wrap="square" rtlCol="0" anchor="ctr"/>
          <a:lstStyle/>
          <a:p>
            <a:pPr indent="0" marL="0">
              <a:buNone/>
            </a:pPr>
            <a:r>
              <a:rPr lang="en-US" sz="1400" b="1" dirty="0">
                <a:solidFill>
                  <a:srgbClr val="2563EB"/>
                </a:solidFill>
              </a:rPr>
              <a:t>📋  List</a:t>
            </a:r>
            <a:endParaRPr lang="en-US" sz="1400" dirty="0"/>
          </a:p>
        </p:txBody>
      </p:sp>
      <p:sp>
        <p:nvSpPr>
          <p:cNvPr id="8" name="Text 6"/>
          <p:cNvSpPr/>
          <p:nvPr/>
        </p:nvSpPr>
        <p:spPr>
          <a:xfrm>
            <a:off x="658368" y="1353312"/>
            <a:ext cx="7772400" cy="274320"/>
          </a:xfrm>
          <a:prstGeom prst="rect">
            <a:avLst/>
          </a:prstGeom>
          <a:noFill/>
          <a:ln/>
        </p:spPr>
        <p:txBody>
          <a:bodyPr wrap="square" rtlCol="0" anchor="ctr"/>
          <a:lstStyle/>
          <a:p>
            <a:pPr indent="0" marL="0">
              <a:buNone/>
            </a:pPr>
            <a:r>
              <a:rPr lang="en-US" sz="1250" dirty="0">
                <a:solidFill>
                  <a:srgbClr val="CBD5E1"/>
                </a:solidFill>
              </a:rPr>
              <a:t>Flexible, ordered — great for data that changes</a:t>
            </a:r>
            <a:endParaRPr lang="en-US" sz="1250" dirty="0"/>
          </a:p>
        </p:txBody>
      </p:sp>
      <p:sp>
        <p:nvSpPr>
          <p:cNvPr id="9" name="Shape 7"/>
          <p:cNvSpPr/>
          <p:nvPr/>
        </p:nvSpPr>
        <p:spPr>
          <a:xfrm>
            <a:off x="457200" y="1856232"/>
            <a:ext cx="8229600" cy="749808"/>
          </a:xfrm>
          <a:prstGeom prst="rect">
            <a:avLst/>
          </a:prstGeom>
          <a:solidFill>
            <a:srgbClr val="FFFFFF">
              <a:alpha val="8000"/>
            </a:srgbClr>
          </a:solidFill>
          <a:ln w="19050">
            <a:solidFill>
              <a:srgbClr val="0891B2"/>
            </a:solidFill>
            <a:prstDash val="solid"/>
          </a:ln>
        </p:spPr>
      </p:sp>
      <p:sp>
        <p:nvSpPr>
          <p:cNvPr id="10" name="Shape 8"/>
          <p:cNvSpPr/>
          <p:nvPr/>
        </p:nvSpPr>
        <p:spPr>
          <a:xfrm>
            <a:off x="457200" y="1856232"/>
            <a:ext cx="73152" cy="749808"/>
          </a:xfrm>
          <a:prstGeom prst="rect">
            <a:avLst/>
          </a:prstGeom>
          <a:solidFill>
            <a:srgbClr val="0891B2"/>
          </a:solidFill>
          <a:ln w="12700">
            <a:solidFill>
              <a:srgbClr val="0891B2"/>
            </a:solidFill>
            <a:prstDash val="solid"/>
          </a:ln>
        </p:spPr>
      </p:sp>
      <p:sp>
        <p:nvSpPr>
          <p:cNvPr id="11" name="Text 9"/>
          <p:cNvSpPr/>
          <p:nvPr/>
        </p:nvSpPr>
        <p:spPr>
          <a:xfrm>
            <a:off x="658368" y="1911096"/>
            <a:ext cx="2011680" cy="320040"/>
          </a:xfrm>
          <a:prstGeom prst="rect">
            <a:avLst/>
          </a:prstGeom>
          <a:noFill/>
          <a:ln/>
        </p:spPr>
        <p:txBody>
          <a:bodyPr wrap="square" rtlCol="0" anchor="ctr"/>
          <a:lstStyle/>
          <a:p>
            <a:pPr indent="0" marL="0">
              <a:buNone/>
            </a:pPr>
            <a:r>
              <a:rPr lang="en-US" sz="1400" b="1" dirty="0">
                <a:solidFill>
                  <a:srgbClr val="0891B2"/>
                </a:solidFill>
              </a:rPr>
              <a:t>🔒  Tuple</a:t>
            </a:r>
            <a:endParaRPr lang="en-US" sz="1400" dirty="0"/>
          </a:p>
        </p:txBody>
      </p:sp>
      <p:sp>
        <p:nvSpPr>
          <p:cNvPr id="12" name="Text 10"/>
          <p:cNvSpPr/>
          <p:nvPr/>
        </p:nvSpPr>
        <p:spPr>
          <a:xfrm>
            <a:off x="658368" y="2249424"/>
            <a:ext cx="7772400" cy="274320"/>
          </a:xfrm>
          <a:prstGeom prst="rect">
            <a:avLst/>
          </a:prstGeom>
          <a:noFill/>
          <a:ln/>
        </p:spPr>
        <p:txBody>
          <a:bodyPr wrap="square" rtlCol="0" anchor="ctr"/>
          <a:lstStyle/>
          <a:p>
            <a:pPr indent="0" marL="0">
              <a:buNone/>
            </a:pPr>
            <a:r>
              <a:rPr lang="en-US" sz="1250" dirty="0">
                <a:solidFill>
                  <a:srgbClr val="CBD5E1"/>
                </a:solidFill>
              </a:rPr>
              <a:t>Immutable — great for fixed, protected data</a:t>
            </a:r>
            <a:endParaRPr lang="en-US" sz="1250" dirty="0"/>
          </a:p>
        </p:txBody>
      </p:sp>
      <p:sp>
        <p:nvSpPr>
          <p:cNvPr id="13" name="Shape 11"/>
          <p:cNvSpPr/>
          <p:nvPr/>
        </p:nvSpPr>
        <p:spPr>
          <a:xfrm>
            <a:off x="457200" y="2752344"/>
            <a:ext cx="8229600" cy="749808"/>
          </a:xfrm>
          <a:prstGeom prst="rect">
            <a:avLst/>
          </a:prstGeom>
          <a:solidFill>
            <a:srgbClr val="FFFFFF">
              <a:alpha val="8000"/>
            </a:srgbClr>
          </a:solidFill>
          <a:ln w="19050">
            <a:solidFill>
              <a:srgbClr val="7C3AED"/>
            </a:solidFill>
            <a:prstDash val="solid"/>
          </a:ln>
        </p:spPr>
      </p:sp>
      <p:sp>
        <p:nvSpPr>
          <p:cNvPr id="14" name="Shape 12"/>
          <p:cNvSpPr/>
          <p:nvPr/>
        </p:nvSpPr>
        <p:spPr>
          <a:xfrm>
            <a:off x="457200" y="2752344"/>
            <a:ext cx="73152" cy="749808"/>
          </a:xfrm>
          <a:prstGeom prst="rect">
            <a:avLst/>
          </a:prstGeom>
          <a:solidFill>
            <a:srgbClr val="7C3AED"/>
          </a:solidFill>
          <a:ln w="12700">
            <a:solidFill>
              <a:srgbClr val="7C3AED"/>
            </a:solidFill>
            <a:prstDash val="solid"/>
          </a:ln>
        </p:spPr>
      </p:sp>
      <p:sp>
        <p:nvSpPr>
          <p:cNvPr id="15" name="Text 13"/>
          <p:cNvSpPr/>
          <p:nvPr/>
        </p:nvSpPr>
        <p:spPr>
          <a:xfrm>
            <a:off x="658368" y="2807208"/>
            <a:ext cx="2011680" cy="320040"/>
          </a:xfrm>
          <a:prstGeom prst="rect">
            <a:avLst/>
          </a:prstGeom>
          <a:noFill/>
          <a:ln/>
        </p:spPr>
        <p:txBody>
          <a:bodyPr wrap="square" rtlCol="0" anchor="ctr"/>
          <a:lstStyle/>
          <a:p>
            <a:pPr indent="0" marL="0">
              <a:buNone/>
            </a:pPr>
            <a:r>
              <a:rPr lang="en-US" sz="1400" b="1" dirty="0">
                <a:solidFill>
                  <a:srgbClr val="7C3AED"/>
                </a:solidFill>
              </a:rPr>
              <a:t>🔍  Set</a:t>
            </a:r>
            <a:endParaRPr lang="en-US" sz="1400" dirty="0"/>
          </a:p>
        </p:txBody>
      </p:sp>
      <p:sp>
        <p:nvSpPr>
          <p:cNvPr id="16" name="Text 14"/>
          <p:cNvSpPr/>
          <p:nvPr/>
        </p:nvSpPr>
        <p:spPr>
          <a:xfrm>
            <a:off x="658368" y="3145536"/>
            <a:ext cx="7772400" cy="274320"/>
          </a:xfrm>
          <a:prstGeom prst="rect">
            <a:avLst/>
          </a:prstGeom>
          <a:noFill/>
          <a:ln/>
        </p:spPr>
        <p:txBody>
          <a:bodyPr wrap="square" rtlCol="0" anchor="ctr"/>
          <a:lstStyle/>
          <a:p>
            <a:pPr indent="0" marL="0">
              <a:buNone/>
            </a:pPr>
            <a:r>
              <a:rPr lang="en-US" sz="1250" dirty="0">
                <a:solidFill>
                  <a:srgbClr val="CBD5E1"/>
                </a:solidFill>
              </a:rPr>
              <a:t>No duplicates — great for unique values</a:t>
            </a:r>
            <a:endParaRPr lang="en-US" sz="1250" dirty="0"/>
          </a:p>
        </p:txBody>
      </p:sp>
      <p:sp>
        <p:nvSpPr>
          <p:cNvPr id="17" name="Shape 15"/>
          <p:cNvSpPr/>
          <p:nvPr/>
        </p:nvSpPr>
        <p:spPr>
          <a:xfrm>
            <a:off x="457200" y="3648456"/>
            <a:ext cx="8229600" cy="749808"/>
          </a:xfrm>
          <a:prstGeom prst="rect">
            <a:avLst/>
          </a:prstGeom>
          <a:solidFill>
            <a:srgbClr val="FFFFFF">
              <a:alpha val="8000"/>
            </a:srgbClr>
          </a:solidFill>
          <a:ln w="19050">
            <a:solidFill>
              <a:srgbClr val="D97706"/>
            </a:solidFill>
            <a:prstDash val="solid"/>
          </a:ln>
        </p:spPr>
      </p:sp>
      <p:sp>
        <p:nvSpPr>
          <p:cNvPr id="18" name="Shape 16"/>
          <p:cNvSpPr/>
          <p:nvPr/>
        </p:nvSpPr>
        <p:spPr>
          <a:xfrm>
            <a:off x="457200" y="3648456"/>
            <a:ext cx="73152" cy="749808"/>
          </a:xfrm>
          <a:prstGeom prst="rect">
            <a:avLst/>
          </a:prstGeom>
          <a:solidFill>
            <a:srgbClr val="D97706"/>
          </a:solidFill>
          <a:ln w="12700">
            <a:solidFill>
              <a:srgbClr val="D97706"/>
            </a:solidFill>
            <a:prstDash val="solid"/>
          </a:ln>
        </p:spPr>
      </p:sp>
      <p:sp>
        <p:nvSpPr>
          <p:cNvPr id="19" name="Text 17"/>
          <p:cNvSpPr/>
          <p:nvPr/>
        </p:nvSpPr>
        <p:spPr>
          <a:xfrm>
            <a:off x="658368" y="3703320"/>
            <a:ext cx="2011680" cy="320040"/>
          </a:xfrm>
          <a:prstGeom prst="rect">
            <a:avLst/>
          </a:prstGeom>
          <a:noFill/>
          <a:ln/>
        </p:spPr>
        <p:txBody>
          <a:bodyPr wrap="square" rtlCol="0" anchor="ctr"/>
          <a:lstStyle/>
          <a:p>
            <a:pPr indent="0" marL="0">
              <a:buNone/>
            </a:pPr>
            <a:r>
              <a:rPr lang="en-US" sz="1400" b="1" dirty="0">
                <a:solidFill>
                  <a:srgbClr val="D97706"/>
                </a:solidFill>
              </a:rPr>
              <a:t>📒  Dictionary</a:t>
            </a:r>
            <a:endParaRPr lang="en-US" sz="1400" dirty="0"/>
          </a:p>
        </p:txBody>
      </p:sp>
      <p:sp>
        <p:nvSpPr>
          <p:cNvPr id="20" name="Text 18"/>
          <p:cNvSpPr/>
          <p:nvPr/>
        </p:nvSpPr>
        <p:spPr>
          <a:xfrm>
            <a:off x="658368" y="4041648"/>
            <a:ext cx="7772400" cy="274320"/>
          </a:xfrm>
          <a:prstGeom prst="rect">
            <a:avLst/>
          </a:prstGeom>
          <a:noFill/>
          <a:ln/>
        </p:spPr>
        <p:txBody>
          <a:bodyPr wrap="square" rtlCol="0" anchor="ctr"/>
          <a:lstStyle/>
          <a:p>
            <a:pPr indent="0" marL="0">
              <a:buNone/>
            </a:pPr>
            <a:r>
              <a:rPr lang="en-US" sz="1250" dirty="0">
                <a:solidFill>
                  <a:srgbClr val="CBD5E1"/>
                </a:solidFill>
              </a:rPr>
              <a:t>Key-value pairs — great for structured information</a:t>
            </a:r>
            <a:endParaRPr lang="en-US" sz="1250" dirty="0"/>
          </a:p>
        </p:txBody>
      </p:sp>
      <p:sp>
        <p:nvSpPr>
          <p:cNvPr id="21" name="Shape 19"/>
          <p:cNvSpPr/>
          <p:nvPr/>
        </p:nvSpPr>
        <p:spPr>
          <a:xfrm>
            <a:off x="457200" y="4572000"/>
            <a:ext cx="8229600" cy="411480"/>
          </a:xfrm>
          <a:prstGeom prst="rect">
            <a:avLst/>
          </a:prstGeom>
          <a:solidFill>
            <a:srgbClr val="FFFFFF">
              <a:alpha val="12000"/>
            </a:srgbClr>
          </a:solidFill>
          <a:ln w="12700">
            <a:solidFill>
              <a:srgbClr val="FFFFFF">
                <a:alpha val="30000"/>
              </a:srgbClr>
            </a:solidFill>
            <a:prstDash val="solid"/>
          </a:ln>
        </p:spPr>
      </p:sp>
      <p:sp>
        <p:nvSpPr>
          <p:cNvPr id="22" name="Text 20"/>
          <p:cNvSpPr/>
          <p:nvPr/>
        </p:nvSpPr>
        <p:spPr>
          <a:xfrm>
            <a:off x="548640" y="4608576"/>
            <a:ext cx="8046720" cy="347472"/>
          </a:xfrm>
          <a:prstGeom prst="rect">
            <a:avLst/>
          </a:prstGeom>
          <a:noFill/>
          <a:ln/>
        </p:spPr>
        <p:txBody>
          <a:bodyPr wrap="square" rtlCol="0" anchor="ctr"/>
          <a:lstStyle/>
          <a:p>
            <a:pPr algn="ctr" indent="0" marL="0">
              <a:buNone/>
            </a:pPr>
            <a:r>
              <a:rPr lang="en-US" sz="1300" i="1" dirty="0">
                <a:solidFill>
                  <a:srgbClr val="FFFFFF"/>
                </a:solidFill>
              </a:rPr>
              <a:t>Choosing the right type = cleaner, faster, more readable Python code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 Data Storage Types in Python</dc:title>
  <dc:subject>PptxGenJS Presentation</dc:subject>
  <dc:creator>PptxGenJS</dc:creator>
  <cp:lastModifiedBy>PptxGenJS</cp:lastModifiedBy>
  <cp:revision>1</cp:revision>
  <dcterms:created xsi:type="dcterms:W3CDTF">2026-06-05T15:12:26Z</dcterms:created>
  <dcterms:modified xsi:type="dcterms:W3CDTF">2026-06-05T15:12:26Z</dcterms:modified>
</cp:coreProperties>
</file>